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8" r:id="rId3"/>
    <p:sldId id="257" r:id="rId4"/>
    <p:sldId id="259" r:id="rId5"/>
    <p:sldId id="260" r:id="rId6"/>
    <p:sldId id="266" r:id="rId7"/>
    <p:sldId id="267" r:id="rId8"/>
    <p:sldId id="268" r:id="rId9"/>
    <p:sldId id="269" r:id="rId10"/>
    <p:sldId id="262" r:id="rId11"/>
    <p:sldId id="263" r:id="rId12"/>
    <p:sldId id="264" r:id="rId13"/>
    <p:sldId id="265" r:id="rId14"/>
    <p:sldId id="270" r:id="rId15"/>
    <p:sldId id="271" r:id="rId16"/>
    <p:sldId id="273" r:id="rId17"/>
    <p:sldId id="274" r:id="rId18"/>
    <p:sldId id="275" r:id="rId19"/>
    <p:sldId id="276" r:id="rId20"/>
    <p:sldId id="272" r:id="rId2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94660"/>
  </p:normalViewPr>
  <p:slideViewPr>
    <p:cSldViewPr snapToGrid="0">
      <p:cViewPr varScale="1">
        <p:scale>
          <a:sx n="65" d="100"/>
          <a:sy n="65" d="100"/>
        </p:scale>
        <p:origin x="92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4EBE56-FB88-402F-99D9-6BF759D19BD4}" type="datetimeFigureOut">
              <a:rPr lang="es-MX" smtClean="0"/>
              <a:t>13/03/2026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BF1756-EE83-4C69-8FCE-BC2DD135AEC2}" type="slidenum">
              <a:rPr lang="es-MX" smtClean="0"/>
              <a:t>‹Nº›</a:t>
            </a:fld>
            <a:endParaRPr lang="es-MX"/>
          </a:p>
        </p:txBody>
      </p:sp>
    </p:spTree>
    <p:extLst>
      <p:ext uri="{BB962C8B-B14F-4D97-AF65-F5344CB8AC3E}">
        <p14:creationId xmlns:p14="http://schemas.microsoft.com/office/powerpoint/2010/main" val="2537528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EBF1756-EE83-4C69-8FCE-BC2DD135AEC2}" type="slidenum">
              <a:rPr lang="es-MX" smtClean="0"/>
              <a:t>3</a:t>
            </a:fld>
            <a:endParaRPr lang="es-MX"/>
          </a:p>
        </p:txBody>
      </p:sp>
    </p:spTree>
    <p:extLst>
      <p:ext uri="{BB962C8B-B14F-4D97-AF65-F5344CB8AC3E}">
        <p14:creationId xmlns:p14="http://schemas.microsoft.com/office/powerpoint/2010/main" val="3615669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CECD9-49C0-E801-563B-4222792B94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44401D-6659-6D54-BC7D-C6C6F25AB787}"/>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AB886BB1-6331-D2A1-C017-1D74BE0A7CB7}"/>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508AAF79-A10C-BD05-B5BB-8821D38F9856}"/>
              </a:ext>
            </a:extLst>
          </p:cNvPr>
          <p:cNvSpPr>
            <a:spLocks noGrp="1"/>
          </p:cNvSpPr>
          <p:nvPr>
            <p:ph type="sldNum" sz="quarter" idx="5"/>
          </p:nvPr>
        </p:nvSpPr>
        <p:spPr/>
        <p:txBody>
          <a:bodyPr/>
          <a:lstStyle/>
          <a:p>
            <a:fld id="{CEBF1756-EE83-4C69-8FCE-BC2DD135AEC2}" type="slidenum">
              <a:rPr lang="es-MX" smtClean="0"/>
              <a:t>6</a:t>
            </a:fld>
            <a:endParaRPr lang="es-MX"/>
          </a:p>
        </p:txBody>
      </p:sp>
    </p:spTree>
    <p:extLst>
      <p:ext uri="{BB962C8B-B14F-4D97-AF65-F5344CB8AC3E}">
        <p14:creationId xmlns:p14="http://schemas.microsoft.com/office/powerpoint/2010/main" val="3597007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DC139-4EFC-0B38-A7D2-DE31AF1387F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6F5CF7-621A-C531-7A17-4B23B07FBA4D}"/>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991FAC11-DE4D-052F-9183-BAFF6690FE3C}"/>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FB2EEAF6-5089-1EA9-DCB1-CD8A31225A3B}"/>
              </a:ext>
            </a:extLst>
          </p:cNvPr>
          <p:cNvSpPr>
            <a:spLocks noGrp="1"/>
          </p:cNvSpPr>
          <p:nvPr>
            <p:ph type="sldNum" sz="quarter" idx="5"/>
          </p:nvPr>
        </p:nvSpPr>
        <p:spPr/>
        <p:txBody>
          <a:bodyPr/>
          <a:lstStyle/>
          <a:p>
            <a:fld id="{CEBF1756-EE83-4C69-8FCE-BC2DD135AEC2}" type="slidenum">
              <a:rPr lang="es-MX" smtClean="0"/>
              <a:t>7</a:t>
            </a:fld>
            <a:endParaRPr lang="es-MX"/>
          </a:p>
        </p:txBody>
      </p:sp>
    </p:spTree>
    <p:extLst>
      <p:ext uri="{BB962C8B-B14F-4D97-AF65-F5344CB8AC3E}">
        <p14:creationId xmlns:p14="http://schemas.microsoft.com/office/powerpoint/2010/main" val="185927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35855-229F-BD61-9FD4-2816BD4BB7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8DEA5C5-2E58-2CBB-B9F3-7196C1F223DE}"/>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CF0FEA9A-C804-A282-4C0F-93A7BC9792E7}"/>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924C6DF2-39E5-EBEE-163B-CCFCB2BC4C7B}"/>
              </a:ext>
            </a:extLst>
          </p:cNvPr>
          <p:cNvSpPr>
            <a:spLocks noGrp="1"/>
          </p:cNvSpPr>
          <p:nvPr>
            <p:ph type="sldNum" sz="quarter" idx="5"/>
          </p:nvPr>
        </p:nvSpPr>
        <p:spPr/>
        <p:txBody>
          <a:bodyPr/>
          <a:lstStyle/>
          <a:p>
            <a:fld id="{CEBF1756-EE83-4C69-8FCE-BC2DD135AEC2}" type="slidenum">
              <a:rPr lang="es-MX" smtClean="0"/>
              <a:t>8</a:t>
            </a:fld>
            <a:endParaRPr lang="es-MX"/>
          </a:p>
        </p:txBody>
      </p:sp>
    </p:spTree>
    <p:extLst>
      <p:ext uri="{BB962C8B-B14F-4D97-AF65-F5344CB8AC3E}">
        <p14:creationId xmlns:p14="http://schemas.microsoft.com/office/powerpoint/2010/main" val="2564281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F5132-9590-4D07-CDA9-8BDAC1694B8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512E246-A9A1-EB62-1F1C-B20F12C5D701}"/>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6399E9B7-19F5-4CA3-7280-AC243CEE63EE}"/>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653F35D6-ED77-C885-6406-8F649F0A37AA}"/>
              </a:ext>
            </a:extLst>
          </p:cNvPr>
          <p:cNvSpPr>
            <a:spLocks noGrp="1"/>
          </p:cNvSpPr>
          <p:nvPr>
            <p:ph type="sldNum" sz="quarter" idx="5"/>
          </p:nvPr>
        </p:nvSpPr>
        <p:spPr/>
        <p:txBody>
          <a:bodyPr/>
          <a:lstStyle/>
          <a:p>
            <a:fld id="{CEBF1756-EE83-4C69-8FCE-BC2DD135AEC2}" type="slidenum">
              <a:rPr lang="es-MX" smtClean="0"/>
              <a:t>9</a:t>
            </a:fld>
            <a:endParaRPr lang="es-MX"/>
          </a:p>
        </p:txBody>
      </p:sp>
    </p:spTree>
    <p:extLst>
      <p:ext uri="{BB962C8B-B14F-4D97-AF65-F5344CB8AC3E}">
        <p14:creationId xmlns:p14="http://schemas.microsoft.com/office/powerpoint/2010/main" val="973661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809DCA-3652-C38B-CEE4-54093A7ABA4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FC23B8D5-4E17-A1CE-CBEA-781D434241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2D1BE39-ED07-12EB-9792-FBEFF1708780}"/>
              </a:ext>
            </a:extLst>
          </p:cNvPr>
          <p:cNvSpPr>
            <a:spLocks noGrp="1"/>
          </p:cNvSpPr>
          <p:nvPr>
            <p:ph type="dt" sz="half" idx="10"/>
          </p:nvPr>
        </p:nvSpPr>
        <p:spPr/>
        <p:txBody>
          <a:bodyPr/>
          <a:lstStyle/>
          <a:p>
            <a:fld id="{EBF8E29E-5D05-41CE-8256-F187228E419C}" type="datetimeFigureOut">
              <a:rPr lang="es-MX" smtClean="0"/>
              <a:t>13/03/2026</a:t>
            </a:fld>
            <a:endParaRPr lang="es-MX"/>
          </a:p>
        </p:txBody>
      </p:sp>
      <p:sp>
        <p:nvSpPr>
          <p:cNvPr id="5" name="Marcador de pie de página 4">
            <a:extLst>
              <a:ext uri="{FF2B5EF4-FFF2-40B4-BE49-F238E27FC236}">
                <a16:creationId xmlns:a16="http://schemas.microsoft.com/office/drawing/2014/main" id="{B52EBFCC-BC4D-99F0-8567-42E0C67C9A0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8423AC9-E9DA-2BBB-ECCB-8A9EE9FABE87}"/>
              </a:ext>
            </a:extLst>
          </p:cNvPr>
          <p:cNvSpPr>
            <a:spLocks noGrp="1"/>
          </p:cNvSpPr>
          <p:nvPr>
            <p:ph type="sldNum" sz="quarter" idx="12"/>
          </p:nvPr>
        </p:nvSpPr>
        <p:spPr/>
        <p:txBody>
          <a:bodyPr/>
          <a:lstStyle/>
          <a:p>
            <a:fld id="{7DC7B7FB-72B3-4062-8257-9F629B24F051}" type="slidenum">
              <a:rPr lang="es-MX" smtClean="0"/>
              <a:t>‹Nº›</a:t>
            </a:fld>
            <a:endParaRPr lang="es-MX"/>
          </a:p>
        </p:txBody>
      </p:sp>
    </p:spTree>
    <p:extLst>
      <p:ext uri="{BB962C8B-B14F-4D97-AF65-F5344CB8AC3E}">
        <p14:creationId xmlns:p14="http://schemas.microsoft.com/office/powerpoint/2010/main" val="2134872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F3BDD6-6F62-0CAF-F7FE-9E99578B484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8A50C4D-53C3-579F-B937-43F532D1C4A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318A41C-C0E2-151C-3B79-9546D0391403}"/>
              </a:ext>
            </a:extLst>
          </p:cNvPr>
          <p:cNvSpPr>
            <a:spLocks noGrp="1"/>
          </p:cNvSpPr>
          <p:nvPr>
            <p:ph type="dt" sz="half" idx="10"/>
          </p:nvPr>
        </p:nvSpPr>
        <p:spPr/>
        <p:txBody>
          <a:bodyPr/>
          <a:lstStyle/>
          <a:p>
            <a:fld id="{EBF8E29E-5D05-41CE-8256-F187228E419C}" type="datetimeFigureOut">
              <a:rPr lang="es-MX" smtClean="0"/>
              <a:t>13/03/2026</a:t>
            </a:fld>
            <a:endParaRPr lang="es-MX"/>
          </a:p>
        </p:txBody>
      </p:sp>
      <p:sp>
        <p:nvSpPr>
          <p:cNvPr id="5" name="Marcador de pie de página 4">
            <a:extLst>
              <a:ext uri="{FF2B5EF4-FFF2-40B4-BE49-F238E27FC236}">
                <a16:creationId xmlns:a16="http://schemas.microsoft.com/office/drawing/2014/main" id="{5B019476-6411-563F-8FB4-A362AB4C1A2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BFF2C73-532E-5C7A-34A3-C76ED050EF3F}"/>
              </a:ext>
            </a:extLst>
          </p:cNvPr>
          <p:cNvSpPr>
            <a:spLocks noGrp="1"/>
          </p:cNvSpPr>
          <p:nvPr>
            <p:ph type="sldNum" sz="quarter" idx="12"/>
          </p:nvPr>
        </p:nvSpPr>
        <p:spPr/>
        <p:txBody>
          <a:bodyPr/>
          <a:lstStyle/>
          <a:p>
            <a:fld id="{7DC7B7FB-72B3-4062-8257-9F629B24F051}" type="slidenum">
              <a:rPr lang="es-MX" smtClean="0"/>
              <a:t>‹Nº›</a:t>
            </a:fld>
            <a:endParaRPr lang="es-MX"/>
          </a:p>
        </p:txBody>
      </p:sp>
    </p:spTree>
    <p:extLst>
      <p:ext uri="{BB962C8B-B14F-4D97-AF65-F5344CB8AC3E}">
        <p14:creationId xmlns:p14="http://schemas.microsoft.com/office/powerpoint/2010/main" val="2574777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DE68E5-061C-0E05-CB27-957FF385EBB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9BDA3A1-0772-CADE-AD93-DB1D30EFFC8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5C15A68-D099-5D5A-71DA-4DD77DB09442}"/>
              </a:ext>
            </a:extLst>
          </p:cNvPr>
          <p:cNvSpPr>
            <a:spLocks noGrp="1"/>
          </p:cNvSpPr>
          <p:nvPr>
            <p:ph type="dt" sz="half" idx="10"/>
          </p:nvPr>
        </p:nvSpPr>
        <p:spPr/>
        <p:txBody>
          <a:bodyPr/>
          <a:lstStyle/>
          <a:p>
            <a:fld id="{EBF8E29E-5D05-41CE-8256-F187228E419C}" type="datetimeFigureOut">
              <a:rPr lang="es-MX" smtClean="0"/>
              <a:t>13/03/2026</a:t>
            </a:fld>
            <a:endParaRPr lang="es-MX"/>
          </a:p>
        </p:txBody>
      </p:sp>
      <p:sp>
        <p:nvSpPr>
          <p:cNvPr id="5" name="Marcador de pie de página 4">
            <a:extLst>
              <a:ext uri="{FF2B5EF4-FFF2-40B4-BE49-F238E27FC236}">
                <a16:creationId xmlns:a16="http://schemas.microsoft.com/office/drawing/2014/main" id="{57C19CF7-6E34-82FA-E0C9-D0EE3C90F7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1C43BC6-B312-D9E3-8CB3-9989CAFA6FA1}"/>
              </a:ext>
            </a:extLst>
          </p:cNvPr>
          <p:cNvSpPr>
            <a:spLocks noGrp="1"/>
          </p:cNvSpPr>
          <p:nvPr>
            <p:ph type="sldNum" sz="quarter" idx="12"/>
          </p:nvPr>
        </p:nvSpPr>
        <p:spPr/>
        <p:txBody>
          <a:bodyPr/>
          <a:lstStyle/>
          <a:p>
            <a:fld id="{7DC7B7FB-72B3-4062-8257-9F629B24F051}" type="slidenum">
              <a:rPr lang="es-MX" smtClean="0"/>
              <a:t>‹Nº›</a:t>
            </a:fld>
            <a:endParaRPr lang="es-MX"/>
          </a:p>
        </p:txBody>
      </p:sp>
    </p:spTree>
    <p:extLst>
      <p:ext uri="{BB962C8B-B14F-4D97-AF65-F5344CB8AC3E}">
        <p14:creationId xmlns:p14="http://schemas.microsoft.com/office/powerpoint/2010/main" val="3563279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AA5FB2-53C8-B3A6-773A-D4712DD1D97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E32D404-02C6-C852-4210-D6EFC0AAC0B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BD602A11-E99F-3490-119F-AD368EA0F42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FB823B55-76C8-DA92-543E-674D64C80322}"/>
              </a:ext>
            </a:extLst>
          </p:cNvPr>
          <p:cNvSpPr>
            <a:spLocks noGrp="1"/>
          </p:cNvSpPr>
          <p:nvPr>
            <p:ph type="dt" sz="half" idx="10"/>
          </p:nvPr>
        </p:nvSpPr>
        <p:spPr/>
        <p:txBody>
          <a:bodyPr/>
          <a:lstStyle/>
          <a:p>
            <a:fld id="{EBF8E29E-5D05-41CE-8256-F187228E419C}" type="datetimeFigureOut">
              <a:rPr lang="es-MX" smtClean="0"/>
              <a:t>13/03/2026</a:t>
            </a:fld>
            <a:endParaRPr lang="es-MX"/>
          </a:p>
        </p:txBody>
      </p:sp>
      <p:sp>
        <p:nvSpPr>
          <p:cNvPr id="6" name="Marcador de pie de página 5">
            <a:extLst>
              <a:ext uri="{FF2B5EF4-FFF2-40B4-BE49-F238E27FC236}">
                <a16:creationId xmlns:a16="http://schemas.microsoft.com/office/drawing/2014/main" id="{BA8FF25E-8CB9-7288-F403-B799847D1C7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5904F93-6B85-2066-6B3C-87308D6B6930}"/>
              </a:ext>
            </a:extLst>
          </p:cNvPr>
          <p:cNvSpPr>
            <a:spLocks noGrp="1"/>
          </p:cNvSpPr>
          <p:nvPr>
            <p:ph type="sldNum" sz="quarter" idx="12"/>
          </p:nvPr>
        </p:nvSpPr>
        <p:spPr/>
        <p:txBody>
          <a:bodyPr/>
          <a:lstStyle/>
          <a:p>
            <a:fld id="{7DC7B7FB-72B3-4062-8257-9F629B24F051}" type="slidenum">
              <a:rPr lang="es-MX" smtClean="0"/>
              <a:t>‹Nº›</a:t>
            </a:fld>
            <a:endParaRPr lang="es-MX"/>
          </a:p>
        </p:txBody>
      </p:sp>
    </p:spTree>
    <p:extLst>
      <p:ext uri="{BB962C8B-B14F-4D97-AF65-F5344CB8AC3E}">
        <p14:creationId xmlns:p14="http://schemas.microsoft.com/office/powerpoint/2010/main" val="1121906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CB334F-2066-1F06-084D-0880EA893C0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03B7892-D396-77D5-1F5F-3A182304CA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B71999C-7521-FED1-A0E5-3F4E505B198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8C8C012E-E10B-2152-6789-E690A2F719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3F94C94-F722-0185-E66E-A4745C7B049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CE88040B-F637-599A-1DF5-F31A0A80EB96}"/>
              </a:ext>
            </a:extLst>
          </p:cNvPr>
          <p:cNvSpPr>
            <a:spLocks noGrp="1"/>
          </p:cNvSpPr>
          <p:nvPr>
            <p:ph type="dt" sz="half" idx="10"/>
          </p:nvPr>
        </p:nvSpPr>
        <p:spPr/>
        <p:txBody>
          <a:bodyPr/>
          <a:lstStyle/>
          <a:p>
            <a:fld id="{EBF8E29E-5D05-41CE-8256-F187228E419C}" type="datetimeFigureOut">
              <a:rPr lang="es-MX" smtClean="0"/>
              <a:t>13/03/2026</a:t>
            </a:fld>
            <a:endParaRPr lang="es-MX"/>
          </a:p>
        </p:txBody>
      </p:sp>
      <p:sp>
        <p:nvSpPr>
          <p:cNvPr id="8" name="Marcador de pie de página 7">
            <a:extLst>
              <a:ext uri="{FF2B5EF4-FFF2-40B4-BE49-F238E27FC236}">
                <a16:creationId xmlns:a16="http://schemas.microsoft.com/office/drawing/2014/main" id="{49FA2A4B-BF6E-9BEC-FBDD-45935BD23FF0}"/>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6E5E1F53-6B5C-6268-1B55-2BDE28827D8F}"/>
              </a:ext>
            </a:extLst>
          </p:cNvPr>
          <p:cNvSpPr>
            <a:spLocks noGrp="1"/>
          </p:cNvSpPr>
          <p:nvPr>
            <p:ph type="sldNum" sz="quarter" idx="12"/>
          </p:nvPr>
        </p:nvSpPr>
        <p:spPr/>
        <p:txBody>
          <a:bodyPr/>
          <a:lstStyle/>
          <a:p>
            <a:fld id="{7DC7B7FB-72B3-4062-8257-9F629B24F051}" type="slidenum">
              <a:rPr lang="es-MX" smtClean="0"/>
              <a:t>‹Nº›</a:t>
            </a:fld>
            <a:endParaRPr lang="es-MX"/>
          </a:p>
        </p:txBody>
      </p:sp>
    </p:spTree>
    <p:extLst>
      <p:ext uri="{BB962C8B-B14F-4D97-AF65-F5344CB8AC3E}">
        <p14:creationId xmlns:p14="http://schemas.microsoft.com/office/powerpoint/2010/main" val="3161353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40B589-38E7-000C-ED5F-EEBD1F96945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22C24C6C-B0B5-26DF-EA06-09535AB436AF}"/>
              </a:ext>
            </a:extLst>
          </p:cNvPr>
          <p:cNvSpPr>
            <a:spLocks noGrp="1"/>
          </p:cNvSpPr>
          <p:nvPr>
            <p:ph type="dt" sz="half" idx="10"/>
          </p:nvPr>
        </p:nvSpPr>
        <p:spPr/>
        <p:txBody>
          <a:bodyPr/>
          <a:lstStyle/>
          <a:p>
            <a:fld id="{EBF8E29E-5D05-41CE-8256-F187228E419C}" type="datetimeFigureOut">
              <a:rPr lang="es-MX" smtClean="0"/>
              <a:t>13/03/2026</a:t>
            </a:fld>
            <a:endParaRPr lang="es-MX"/>
          </a:p>
        </p:txBody>
      </p:sp>
      <p:sp>
        <p:nvSpPr>
          <p:cNvPr id="4" name="Marcador de pie de página 3">
            <a:extLst>
              <a:ext uri="{FF2B5EF4-FFF2-40B4-BE49-F238E27FC236}">
                <a16:creationId xmlns:a16="http://schemas.microsoft.com/office/drawing/2014/main" id="{9534C023-1913-1044-9CA8-159AA097A0F1}"/>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FC834CDB-14E6-1C24-351C-9797CC837480}"/>
              </a:ext>
            </a:extLst>
          </p:cNvPr>
          <p:cNvSpPr>
            <a:spLocks noGrp="1"/>
          </p:cNvSpPr>
          <p:nvPr>
            <p:ph type="sldNum" sz="quarter" idx="12"/>
          </p:nvPr>
        </p:nvSpPr>
        <p:spPr/>
        <p:txBody>
          <a:bodyPr/>
          <a:lstStyle/>
          <a:p>
            <a:fld id="{7DC7B7FB-72B3-4062-8257-9F629B24F051}" type="slidenum">
              <a:rPr lang="es-MX" smtClean="0"/>
              <a:t>‹Nº›</a:t>
            </a:fld>
            <a:endParaRPr lang="es-MX"/>
          </a:p>
        </p:txBody>
      </p:sp>
    </p:spTree>
    <p:extLst>
      <p:ext uri="{BB962C8B-B14F-4D97-AF65-F5344CB8AC3E}">
        <p14:creationId xmlns:p14="http://schemas.microsoft.com/office/powerpoint/2010/main" val="1605833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C04F702-4829-AD5C-83BE-968AAA93BE2D}"/>
              </a:ext>
            </a:extLst>
          </p:cNvPr>
          <p:cNvSpPr>
            <a:spLocks noGrp="1"/>
          </p:cNvSpPr>
          <p:nvPr>
            <p:ph type="dt" sz="half" idx="10"/>
          </p:nvPr>
        </p:nvSpPr>
        <p:spPr/>
        <p:txBody>
          <a:bodyPr/>
          <a:lstStyle/>
          <a:p>
            <a:fld id="{EBF8E29E-5D05-41CE-8256-F187228E419C}" type="datetimeFigureOut">
              <a:rPr lang="es-MX" smtClean="0"/>
              <a:t>13/03/2026</a:t>
            </a:fld>
            <a:endParaRPr lang="es-MX"/>
          </a:p>
        </p:txBody>
      </p:sp>
      <p:sp>
        <p:nvSpPr>
          <p:cNvPr id="3" name="Marcador de pie de página 2">
            <a:extLst>
              <a:ext uri="{FF2B5EF4-FFF2-40B4-BE49-F238E27FC236}">
                <a16:creationId xmlns:a16="http://schemas.microsoft.com/office/drawing/2014/main" id="{D140A287-2557-5A00-BE02-979B69FA8F5D}"/>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3F2A69BE-5480-1C4A-90A3-DAD1FEF73D94}"/>
              </a:ext>
            </a:extLst>
          </p:cNvPr>
          <p:cNvSpPr>
            <a:spLocks noGrp="1"/>
          </p:cNvSpPr>
          <p:nvPr>
            <p:ph type="sldNum" sz="quarter" idx="12"/>
          </p:nvPr>
        </p:nvSpPr>
        <p:spPr/>
        <p:txBody>
          <a:bodyPr/>
          <a:lstStyle/>
          <a:p>
            <a:fld id="{7DC7B7FB-72B3-4062-8257-9F629B24F051}" type="slidenum">
              <a:rPr lang="es-MX" smtClean="0"/>
              <a:t>‹Nº›</a:t>
            </a:fld>
            <a:endParaRPr lang="es-MX"/>
          </a:p>
        </p:txBody>
      </p:sp>
    </p:spTree>
    <p:extLst>
      <p:ext uri="{BB962C8B-B14F-4D97-AF65-F5344CB8AC3E}">
        <p14:creationId xmlns:p14="http://schemas.microsoft.com/office/powerpoint/2010/main" val="877723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A1BDDA-680B-C0BE-EF7F-00443632624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ACA9668-C57F-0B0F-CC37-837D4B89FD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5826D882-8F2B-012C-3C82-B2BB5EFFDB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BC289AE-C061-46E9-4FDD-876DBEF5F141}"/>
              </a:ext>
            </a:extLst>
          </p:cNvPr>
          <p:cNvSpPr>
            <a:spLocks noGrp="1"/>
          </p:cNvSpPr>
          <p:nvPr>
            <p:ph type="dt" sz="half" idx="10"/>
          </p:nvPr>
        </p:nvSpPr>
        <p:spPr/>
        <p:txBody>
          <a:bodyPr/>
          <a:lstStyle/>
          <a:p>
            <a:fld id="{EBF8E29E-5D05-41CE-8256-F187228E419C}" type="datetimeFigureOut">
              <a:rPr lang="es-MX" smtClean="0"/>
              <a:t>13/03/2026</a:t>
            </a:fld>
            <a:endParaRPr lang="es-MX"/>
          </a:p>
        </p:txBody>
      </p:sp>
      <p:sp>
        <p:nvSpPr>
          <p:cNvPr id="6" name="Marcador de pie de página 5">
            <a:extLst>
              <a:ext uri="{FF2B5EF4-FFF2-40B4-BE49-F238E27FC236}">
                <a16:creationId xmlns:a16="http://schemas.microsoft.com/office/drawing/2014/main" id="{88BBB402-084F-A617-B9A0-562AC3C4E45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1010B27-339D-24C8-2693-65BB36231E57}"/>
              </a:ext>
            </a:extLst>
          </p:cNvPr>
          <p:cNvSpPr>
            <a:spLocks noGrp="1"/>
          </p:cNvSpPr>
          <p:nvPr>
            <p:ph type="sldNum" sz="quarter" idx="12"/>
          </p:nvPr>
        </p:nvSpPr>
        <p:spPr/>
        <p:txBody>
          <a:bodyPr/>
          <a:lstStyle/>
          <a:p>
            <a:fld id="{7DC7B7FB-72B3-4062-8257-9F629B24F051}" type="slidenum">
              <a:rPr lang="es-MX" smtClean="0"/>
              <a:t>‹Nº›</a:t>
            </a:fld>
            <a:endParaRPr lang="es-MX"/>
          </a:p>
        </p:txBody>
      </p:sp>
    </p:spTree>
    <p:extLst>
      <p:ext uri="{BB962C8B-B14F-4D97-AF65-F5344CB8AC3E}">
        <p14:creationId xmlns:p14="http://schemas.microsoft.com/office/powerpoint/2010/main" val="1138319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509016-D214-CEBD-7383-DFA17E8643E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7B9EBDE5-9966-DDB7-F4FC-8E02A1F5DC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B56645FB-543B-7D1A-3D08-6B9BD8A4D6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34C86CD-838E-5B08-0F4E-DBA195FE0FC5}"/>
              </a:ext>
            </a:extLst>
          </p:cNvPr>
          <p:cNvSpPr>
            <a:spLocks noGrp="1"/>
          </p:cNvSpPr>
          <p:nvPr>
            <p:ph type="dt" sz="half" idx="10"/>
          </p:nvPr>
        </p:nvSpPr>
        <p:spPr/>
        <p:txBody>
          <a:bodyPr/>
          <a:lstStyle/>
          <a:p>
            <a:fld id="{EBF8E29E-5D05-41CE-8256-F187228E419C}" type="datetimeFigureOut">
              <a:rPr lang="es-MX" smtClean="0"/>
              <a:t>13/03/2026</a:t>
            </a:fld>
            <a:endParaRPr lang="es-MX"/>
          </a:p>
        </p:txBody>
      </p:sp>
      <p:sp>
        <p:nvSpPr>
          <p:cNvPr id="6" name="Marcador de pie de página 5">
            <a:extLst>
              <a:ext uri="{FF2B5EF4-FFF2-40B4-BE49-F238E27FC236}">
                <a16:creationId xmlns:a16="http://schemas.microsoft.com/office/drawing/2014/main" id="{1A36357A-4070-2AE3-E917-E9C23181EC3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F801B70-1D90-255A-E30D-0650DDC97BA3}"/>
              </a:ext>
            </a:extLst>
          </p:cNvPr>
          <p:cNvSpPr>
            <a:spLocks noGrp="1"/>
          </p:cNvSpPr>
          <p:nvPr>
            <p:ph type="sldNum" sz="quarter" idx="12"/>
          </p:nvPr>
        </p:nvSpPr>
        <p:spPr/>
        <p:txBody>
          <a:bodyPr/>
          <a:lstStyle/>
          <a:p>
            <a:fld id="{7DC7B7FB-72B3-4062-8257-9F629B24F051}" type="slidenum">
              <a:rPr lang="es-MX" smtClean="0"/>
              <a:t>‹Nº›</a:t>
            </a:fld>
            <a:endParaRPr lang="es-MX"/>
          </a:p>
        </p:txBody>
      </p:sp>
    </p:spTree>
    <p:extLst>
      <p:ext uri="{BB962C8B-B14F-4D97-AF65-F5344CB8AC3E}">
        <p14:creationId xmlns:p14="http://schemas.microsoft.com/office/powerpoint/2010/main" val="2867733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07BE32-F5BD-3322-E4A6-C207FF5A93C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A49CE38C-C818-B541-91CC-E8A7C227A2C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17371B1-029B-C960-0477-721123D8AEEC}"/>
              </a:ext>
            </a:extLst>
          </p:cNvPr>
          <p:cNvSpPr>
            <a:spLocks noGrp="1"/>
          </p:cNvSpPr>
          <p:nvPr>
            <p:ph type="dt" sz="half" idx="10"/>
          </p:nvPr>
        </p:nvSpPr>
        <p:spPr/>
        <p:txBody>
          <a:bodyPr/>
          <a:lstStyle/>
          <a:p>
            <a:fld id="{EBF8E29E-5D05-41CE-8256-F187228E419C}" type="datetimeFigureOut">
              <a:rPr lang="es-MX" smtClean="0"/>
              <a:t>13/03/2026</a:t>
            </a:fld>
            <a:endParaRPr lang="es-MX"/>
          </a:p>
        </p:txBody>
      </p:sp>
      <p:sp>
        <p:nvSpPr>
          <p:cNvPr id="5" name="Marcador de pie de página 4">
            <a:extLst>
              <a:ext uri="{FF2B5EF4-FFF2-40B4-BE49-F238E27FC236}">
                <a16:creationId xmlns:a16="http://schemas.microsoft.com/office/drawing/2014/main" id="{2EEDC2E2-618F-3A65-4F3B-A366859200B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3A14632-8B68-DE1F-BBD1-95A10CE98D75}"/>
              </a:ext>
            </a:extLst>
          </p:cNvPr>
          <p:cNvSpPr>
            <a:spLocks noGrp="1"/>
          </p:cNvSpPr>
          <p:nvPr>
            <p:ph type="sldNum" sz="quarter" idx="12"/>
          </p:nvPr>
        </p:nvSpPr>
        <p:spPr/>
        <p:txBody>
          <a:bodyPr/>
          <a:lstStyle/>
          <a:p>
            <a:fld id="{7DC7B7FB-72B3-4062-8257-9F629B24F051}" type="slidenum">
              <a:rPr lang="es-MX" smtClean="0"/>
              <a:t>‹Nº›</a:t>
            </a:fld>
            <a:endParaRPr lang="es-MX"/>
          </a:p>
        </p:txBody>
      </p:sp>
    </p:spTree>
    <p:extLst>
      <p:ext uri="{BB962C8B-B14F-4D97-AF65-F5344CB8AC3E}">
        <p14:creationId xmlns:p14="http://schemas.microsoft.com/office/powerpoint/2010/main" val="573725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D95E3D0-6D49-16D1-6298-8A9374A4D51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5324ABC-B8DB-7524-B4DA-DBFFB8045BB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05B06D9-6297-53DD-B6BD-119D605087A5}"/>
              </a:ext>
            </a:extLst>
          </p:cNvPr>
          <p:cNvSpPr>
            <a:spLocks noGrp="1"/>
          </p:cNvSpPr>
          <p:nvPr>
            <p:ph type="dt" sz="half" idx="10"/>
          </p:nvPr>
        </p:nvSpPr>
        <p:spPr/>
        <p:txBody>
          <a:bodyPr/>
          <a:lstStyle/>
          <a:p>
            <a:fld id="{EBF8E29E-5D05-41CE-8256-F187228E419C}" type="datetimeFigureOut">
              <a:rPr lang="es-MX" smtClean="0"/>
              <a:t>13/03/2026</a:t>
            </a:fld>
            <a:endParaRPr lang="es-MX"/>
          </a:p>
        </p:txBody>
      </p:sp>
      <p:sp>
        <p:nvSpPr>
          <p:cNvPr id="5" name="Marcador de pie de página 4">
            <a:extLst>
              <a:ext uri="{FF2B5EF4-FFF2-40B4-BE49-F238E27FC236}">
                <a16:creationId xmlns:a16="http://schemas.microsoft.com/office/drawing/2014/main" id="{88A8C342-96EB-FE92-F51C-FFE68842078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A063613-8709-CDCC-2982-435EA22BDD75}"/>
              </a:ext>
            </a:extLst>
          </p:cNvPr>
          <p:cNvSpPr>
            <a:spLocks noGrp="1"/>
          </p:cNvSpPr>
          <p:nvPr>
            <p:ph type="sldNum" sz="quarter" idx="12"/>
          </p:nvPr>
        </p:nvSpPr>
        <p:spPr/>
        <p:txBody>
          <a:bodyPr/>
          <a:lstStyle/>
          <a:p>
            <a:fld id="{7DC7B7FB-72B3-4062-8257-9F629B24F051}" type="slidenum">
              <a:rPr lang="es-MX" smtClean="0"/>
              <a:t>‹Nº›</a:t>
            </a:fld>
            <a:endParaRPr lang="es-MX"/>
          </a:p>
        </p:txBody>
      </p:sp>
    </p:spTree>
    <p:extLst>
      <p:ext uri="{BB962C8B-B14F-4D97-AF65-F5344CB8AC3E}">
        <p14:creationId xmlns:p14="http://schemas.microsoft.com/office/powerpoint/2010/main" val="910859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8802FBD-F517-208C-F550-D1A144D926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E44DB4F-97F8-D31C-4CC6-FF42B57CF9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BCB405-93DB-21B6-4B9D-D29956F6E0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F8E29E-5D05-41CE-8256-F187228E419C}" type="datetimeFigureOut">
              <a:rPr lang="es-MX" smtClean="0"/>
              <a:t>13/03/2026</a:t>
            </a:fld>
            <a:endParaRPr lang="es-MX"/>
          </a:p>
        </p:txBody>
      </p:sp>
      <p:sp>
        <p:nvSpPr>
          <p:cNvPr id="5" name="Marcador de pie de página 4">
            <a:extLst>
              <a:ext uri="{FF2B5EF4-FFF2-40B4-BE49-F238E27FC236}">
                <a16:creationId xmlns:a16="http://schemas.microsoft.com/office/drawing/2014/main" id="{2F99430A-046B-90C5-40B2-2633928CAE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111B5CD7-1315-7CF8-6735-A221C27EDB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C7B7FB-72B3-4062-8257-9F629B24F051}" type="slidenum">
              <a:rPr lang="es-MX" smtClean="0"/>
              <a:t>‹Nº›</a:t>
            </a:fld>
            <a:endParaRPr lang="es-MX"/>
          </a:p>
        </p:txBody>
      </p:sp>
    </p:spTree>
    <p:extLst>
      <p:ext uri="{BB962C8B-B14F-4D97-AF65-F5344CB8AC3E}">
        <p14:creationId xmlns:p14="http://schemas.microsoft.com/office/powerpoint/2010/main" val="2639558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13" name="Rectangle 12">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15" name="Rectangle 14">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17" name="Rectangle 16">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2" name="Título 1">
            <a:extLst>
              <a:ext uri="{FF2B5EF4-FFF2-40B4-BE49-F238E27FC236}">
                <a16:creationId xmlns:a16="http://schemas.microsoft.com/office/drawing/2014/main" id="{96F33069-31A9-3C67-3DC0-9E3F90068BFE}"/>
              </a:ext>
            </a:extLst>
          </p:cNvPr>
          <p:cNvSpPr>
            <a:spLocks noGrp="1"/>
          </p:cNvSpPr>
          <p:nvPr>
            <p:ph type="ctrTitle"/>
          </p:nvPr>
        </p:nvSpPr>
        <p:spPr>
          <a:xfrm>
            <a:off x="1127208" y="857251"/>
            <a:ext cx="4747280" cy="3098061"/>
          </a:xfrm>
        </p:spPr>
        <p:txBody>
          <a:bodyPr anchor="b">
            <a:normAutofit/>
          </a:bodyPr>
          <a:lstStyle/>
          <a:p>
            <a:pPr algn="l"/>
            <a:r>
              <a:rPr lang="es-MX" sz="4800" noProof="0" dirty="0">
                <a:solidFill>
                  <a:srgbClr val="FFFFFF"/>
                </a:solidFill>
                <a:latin typeface="Arial" panose="020B0604020202020204" pitchFamily="34" charset="0"/>
                <a:cs typeface="Arial" panose="020B0604020202020204" pitchFamily="34" charset="0"/>
              </a:rPr>
              <a:t>Descripción en verilog de la ALU DE RISC-V</a:t>
            </a:r>
          </a:p>
        </p:txBody>
      </p:sp>
      <p:sp>
        <p:nvSpPr>
          <p:cNvPr id="19" name="Rectangle 18">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3" name="Subtítulo 2">
            <a:extLst>
              <a:ext uri="{FF2B5EF4-FFF2-40B4-BE49-F238E27FC236}">
                <a16:creationId xmlns:a16="http://schemas.microsoft.com/office/drawing/2014/main" id="{FDF8AE3A-E5F5-F23D-D27C-126531B857B4}"/>
              </a:ext>
            </a:extLst>
          </p:cNvPr>
          <p:cNvSpPr>
            <a:spLocks noGrp="1"/>
          </p:cNvSpPr>
          <p:nvPr>
            <p:ph type="subTitle" idx="1"/>
          </p:nvPr>
        </p:nvSpPr>
        <p:spPr>
          <a:xfrm>
            <a:off x="1127208" y="4756265"/>
            <a:ext cx="4393278" cy="1244483"/>
          </a:xfrm>
        </p:spPr>
        <p:txBody>
          <a:bodyPr anchor="t">
            <a:normAutofit fontScale="92500" lnSpcReduction="10000"/>
          </a:bodyPr>
          <a:lstStyle/>
          <a:p>
            <a:pPr algn="l"/>
            <a:r>
              <a:rPr lang="es-MX" noProof="0" dirty="0">
                <a:solidFill>
                  <a:srgbClr val="FFFFFF"/>
                </a:solidFill>
              </a:rPr>
              <a:t>Ricardo Ramirez Marin</a:t>
            </a:r>
          </a:p>
          <a:p>
            <a:pPr algn="l"/>
            <a:r>
              <a:rPr lang="es-MX" noProof="0" dirty="0">
                <a:solidFill>
                  <a:srgbClr val="FFFFFF"/>
                </a:solidFill>
              </a:rPr>
              <a:t>Servicio Social</a:t>
            </a:r>
          </a:p>
          <a:p>
            <a:pPr algn="l"/>
            <a:r>
              <a:rPr lang="es-MX" noProof="0" dirty="0">
                <a:solidFill>
                  <a:srgbClr val="FFFFFF"/>
                </a:solidFill>
              </a:rPr>
              <a:t>Procesamiento Digital de Señales</a:t>
            </a:r>
          </a:p>
        </p:txBody>
      </p:sp>
      <p:sp>
        <p:nvSpPr>
          <p:cNvPr id="21" name="Oval 20">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pic>
        <p:nvPicPr>
          <p:cNvPr id="6" name="Imagen 5">
            <a:extLst>
              <a:ext uri="{FF2B5EF4-FFF2-40B4-BE49-F238E27FC236}">
                <a16:creationId xmlns:a16="http://schemas.microsoft.com/office/drawing/2014/main" id="{EF0AD01D-84AD-F5C6-5968-7F23BFC6ED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5042" y="2108877"/>
            <a:ext cx="3388197" cy="2654533"/>
          </a:xfrm>
          <a:prstGeom prst="rect">
            <a:avLst/>
          </a:prstGeom>
        </p:spPr>
      </p:pic>
    </p:spTree>
    <p:extLst>
      <p:ext uri="{BB962C8B-B14F-4D97-AF65-F5344CB8AC3E}">
        <p14:creationId xmlns:p14="http://schemas.microsoft.com/office/powerpoint/2010/main" val="147022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13" name="Freeform: Shape 12">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MX" noProof="0" dirty="0"/>
          </a:p>
        </p:txBody>
      </p:sp>
      <p:sp>
        <p:nvSpPr>
          <p:cNvPr id="2" name="Título 1">
            <a:extLst>
              <a:ext uri="{FF2B5EF4-FFF2-40B4-BE49-F238E27FC236}">
                <a16:creationId xmlns:a16="http://schemas.microsoft.com/office/drawing/2014/main" id="{E537912E-83B5-1803-0CFE-3271F3E7C3C2}"/>
              </a:ext>
            </a:extLst>
          </p:cNvPr>
          <p:cNvSpPr>
            <a:spLocks noGrp="1"/>
          </p:cNvSpPr>
          <p:nvPr>
            <p:ph type="title"/>
          </p:nvPr>
        </p:nvSpPr>
        <p:spPr>
          <a:xfrm>
            <a:off x="1137034" y="609600"/>
            <a:ext cx="4784796" cy="1330840"/>
          </a:xfrm>
        </p:spPr>
        <p:txBody>
          <a:bodyPr>
            <a:normAutofit/>
          </a:bodyPr>
          <a:lstStyle/>
          <a:p>
            <a:r>
              <a:rPr lang="es-MX" noProof="0" dirty="0"/>
              <a:t>¿Qué es la ALU?</a:t>
            </a:r>
          </a:p>
        </p:txBody>
      </p:sp>
      <p:sp>
        <p:nvSpPr>
          <p:cNvPr id="3" name="Marcador de contenido 2">
            <a:extLst>
              <a:ext uri="{FF2B5EF4-FFF2-40B4-BE49-F238E27FC236}">
                <a16:creationId xmlns:a16="http://schemas.microsoft.com/office/drawing/2014/main" id="{DF2CD6F3-ED9E-0226-E186-EF7291D9EB03}"/>
              </a:ext>
            </a:extLst>
          </p:cNvPr>
          <p:cNvSpPr>
            <a:spLocks noGrp="1"/>
          </p:cNvSpPr>
          <p:nvPr>
            <p:ph idx="1"/>
          </p:nvPr>
        </p:nvSpPr>
        <p:spPr>
          <a:xfrm>
            <a:off x="1137034" y="2194102"/>
            <a:ext cx="4438036" cy="3908585"/>
          </a:xfrm>
        </p:spPr>
        <p:txBody>
          <a:bodyPr>
            <a:normAutofit/>
          </a:bodyPr>
          <a:lstStyle/>
          <a:p>
            <a:pPr marL="0" indent="0" algn="just">
              <a:buNone/>
            </a:pPr>
            <a:r>
              <a:rPr lang="es-MX" sz="2000" noProof="0" dirty="0"/>
              <a:t>La ALU (Unidad Lógica Aritmética) es la que nos ayuda realizar operaciones aritméticas que son fundamentales en los procesadores, forman parte de la arquitectura de un procesador además de ser un componente indispensable. Es capaz de realizar operaciones como suma aritmética, resta, AND, OR, X-OR e incluso desplazamientos o moverte entre direcciones entre los bancos de memoria. </a:t>
            </a:r>
          </a:p>
        </p:txBody>
      </p:sp>
      <p:pic>
        <p:nvPicPr>
          <p:cNvPr id="6" name="Imagen 5">
            <a:extLst>
              <a:ext uri="{FF2B5EF4-FFF2-40B4-BE49-F238E27FC236}">
                <a16:creationId xmlns:a16="http://schemas.microsoft.com/office/drawing/2014/main" id="{6E913F90-9BC8-974F-D36E-956D5D6DE5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0610" y="1410814"/>
            <a:ext cx="4737650" cy="4058586"/>
          </a:xfrm>
          <a:prstGeom prst="rect">
            <a:avLst/>
          </a:prstGeom>
        </p:spPr>
      </p:pic>
    </p:spTree>
    <p:extLst>
      <p:ext uri="{BB962C8B-B14F-4D97-AF65-F5344CB8AC3E}">
        <p14:creationId xmlns:p14="http://schemas.microsoft.com/office/powerpoint/2010/main" val="1058145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20" name="Freeform: Shape 19">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MX" noProof="0" dirty="0"/>
          </a:p>
        </p:txBody>
      </p:sp>
      <p:sp>
        <p:nvSpPr>
          <p:cNvPr id="2" name="Título 1">
            <a:extLst>
              <a:ext uri="{FF2B5EF4-FFF2-40B4-BE49-F238E27FC236}">
                <a16:creationId xmlns:a16="http://schemas.microsoft.com/office/drawing/2014/main" id="{AA9BDBDF-D52A-9FFB-BF1C-977BAF86B05E}"/>
              </a:ext>
            </a:extLst>
          </p:cNvPr>
          <p:cNvSpPr>
            <a:spLocks noGrp="1"/>
          </p:cNvSpPr>
          <p:nvPr>
            <p:ph type="title"/>
          </p:nvPr>
        </p:nvSpPr>
        <p:spPr>
          <a:xfrm>
            <a:off x="1137034" y="609597"/>
            <a:ext cx="9392421" cy="1330841"/>
          </a:xfrm>
        </p:spPr>
        <p:txBody>
          <a:bodyPr>
            <a:normAutofit/>
          </a:bodyPr>
          <a:lstStyle/>
          <a:p>
            <a:r>
              <a:rPr lang="es-MX" noProof="0" dirty="0"/>
              <a:t>¿Qué estructura tendrá nuestra ALU?</a:t>
            </a:r>
          </a:p>
        </p:txBody>
      </p:sp>
      <p:sp>
        <p:nvSpPr>
          <p:cNvPr id="3" name="Marcador de contenido 2">
            <a:extLst>
              <a:ext uri="{FF2B5EF4-FFF2-40B4-BE49-F238E27FC236}">
                <a16:creationId xmlns:a16="http://schemas.microsoft.com/office/drawing/2014/main" id="{B506610D-F731-2E0D-42D9-7F86AB22B32F}"/>
              </a:ext>
            </a:extLst>
          </p:cNvPr>
          <p:cNvSpPr>
            <a:spLocks noGrp="1"/>
          </p:cNvSpPr>
          <p:nvPr>
            <p:ph idx="1"/>
          </p:nvPr>
        </p:nvSpPr>
        <p:spPr>
          <a:xfrm>
            <a:off x="1137034" y="2198362"/>
            <a:ext cx="4958966" cy="3917773"/>
          </a:xfrm>
        </p:spPr>
        <p:txBody>
          <a:bodyPr>
            <a:normAutofit/>
          </a:bodyPr>
          <a:lstStyle/>
          <a:p>
            <a:pPr marL="0" indent="0" algn="just">
              <a:buNone/>
            </a:pPr>
            <a:r>
              <a:rPr lang="es-MX" sz="2000" noProof="0" dirty="0"/>
              <a:t>La ALU que se diseño tiene una capacidad de entrada de 32 bits, con dos entradas para ingresar datos, además de contar con sus respectivas salidas de igual 32 acompañado de 2 banderas que son la que detecta cero “Z” y la que detecta un desbordamiento de datos o el </a:t>
            </a:r>
            <a:r>
              <a:rPr lang="es-MX" sz="2000" noProof="0" dirty="0" err="1"/>
              <a:t>carry</a:t>
            </a:r>
            <a:r>
              <a:rPr lang="es-MX" sz="2000" noProof="0" dirty="0"/>
              <a:t> “C”.</a:t>
            </a:r>
          </a:p>
          <a:p>
            <a:pPr marL="0" indent="0" algn="just">
              <a:buNone/>
            </a:pPr>
            <a:r>
              <a:rPr lang="es-MX" sz="2000" noProof="0" dirty="0"/>
              <a:t>Se cuenta con 14 instrucciones u operaciones que realizara nuestra ALU. Por último, nos basaremos en la arquitectura de RISC-V</a:t>
            </a:r>
          </a:p>
        </p:txBody>
      </p:sp>
      <p:pic>
        <p:nvPicPr>
          <p:cNvPr id="8" name="Imagen 7">
            <a:extLst>
              <a:ext uri="{FF2B5EF4-FFF2-40B4-BE49-F238E27FC236}">
                <a16:creationId xmlns:a16="http://schemas.microsoft.com/office/drawing/2014/main" id="{98F0C9B8-7D1A-8DDC-A887-4C1A7B53AE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0753" y="2184914"/>
            <a:ext cx="4665733" cy="3755915"/>
          </a:xfrm>
          <a:prstGeom prst="rect">
            <a:avLst/>
          </a:prstGeom>
        </p:spPr>
      </p:pic>
      <p:sp>
        <p:nvSpPr>
          <p:cNvPr id="22" name="Freeform: Shape 21">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MX" noProof="0" dirty="0"/>
          </a:p>
        </p:txBody>
      </p:sp>
      <p:sp>
        <p:nvSpPr>
          <p:cNvPr id="9" name="Círculo: vacío 8">
            <a:extLst>
              <a:ext uri="{FF2B5EF4-FFF2-40B4-BE49-F238E27FC236}">
                <a16:creationId xmlns:a16="http://schemas.microsoft.com/office/drawing/2014/main" id="{3217B046-67A9-CD68-4C25-4156A55E5A03}"/>
              </a:ext>
            </a:extLst>
          </p:cNvPr>
          <p:cNvSpPr/>
          <p:nvPr/>
        </p:nvSpPr>
        <p:spPr>
          <a:xfrm>
            <a:off x="9689690" y="4253441"/>
            <a:ext cx="839765" cy="672520"/>
          </a:xfrm>
          <a:prstGeom prst="donut">
            <a:avLst>
              <a:gd name="adj" fmla="val 5927"/>
            </a:avLst>
          </a:prstGeom>
          <a:solidFill>
            <a:srgbClr val="C0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noProof="0" dirty="0">
              <a:solidFill>
                <a:schemeClr val="tx1"/>
              </a:solidFill>
            </a:endParaRPr>
          </a:p>
        </p:txBody>
      </p:sp>
    </p:spTree>
    <p:extLst>
      <p:ext uri="{BB962C8B-B14F-4D97-AF65-F5344CB8AC3E}">
        <p14:creationId xmlns:p14="http://schemas.microsoft.com/office/powerpoint/2010/main" val="3272442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MX" noProof="0" dirty="0"/>
          </a:p>
        </p:txBody>
      </p:sp>
      <p:sp>
        <p:nvSpPr>
          <p:cNvPr id="13" name="Arc 1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0EDB535D-10AD-80B9-C15C-FD6A5C71FD0F}"/>
              </a:ext>
            </a:extLst>
          </p:cNvPr>
          <p:cNvSpPr>
            <a:spLocks noGrp="1"/>
          </p:cNvSpPr>
          <p:nvPr>
            <p:ph type="title"/>
          </p:nvPr>
        </p:nvSpPr>
        <p:spPr>
          <a:xfrm>
            <a:off x="5894962" y="479493"/>
            <a:ext cx="5458838" cy="1325563"/>
          </a:xfrm>
        </p:spPr>
        <p:txBody>
          <a:bodyPr>
            <a:normAutofit/>
          </a:bodyPr>
          <a:lstStyle/>
          <a:p>
            <a:r>
              <a:rPr lang="es-MX" noProof="0" dirty="0"/>
              <a:t>¿Cómo es que funciona?</a:t>
            </a:r>
          </a:p>
        </p:txBody>
      </p:sp>
      <p:sp>
        <p:nvSpPr>
          <p:cNvPr id="15" name="Freeform: Shape 1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MX" noProof="0" dirty="0"/>
          </a:p>
        </p:txBody>
      </p:sp>
      <p:pic>
        <p:nvPicPr>
          <p:cNvPr id="6" name="Imagen 5">
            <a:extLst>
              <a:ext uri="{FF2B5EF4-FFF2-40B4-BE49-F238E27FC236}">
                <a16:creationId xmlns:a16="http://schemas.microsoft.com/office/drawing/2014/main" id="{78E76C19-3F8F-BBF3-11A4-8980F9B068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182" y="1254024"/>
            <a:ext cx="4777381" cy="4180208"/>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Marcador de contenido 2">
            <a:extLst>
              <a:ext uri="{FF2B5EF4-FFF2-40B4-BE49-F238E27FC236}">
                <a16:creationId xmlns:a16="http://schemas.microsoft.com/office/drawing/2014/main" id="{0A9DB756-3C6D-6B8E-172F-91A25034A644}"/>
              </a:ext>
            </a:extLst>
          </p:cNvPr>
          <p:cNvSpPr>
            <a:spLocks noGrp="1"/>
          </p:cNvSpPr>
          <p:nvPr>
            <p:ph idx="1"/>
          </p:nvPr>
        </p:nvSpPr>
        <p:spPr>
          <a:xfrm>
            <a:off x="5894962" y="1984443"/>
            <a:ext cx="5458838" cy="4192520"/>
          </a:xfrm>
        </p:spPr>
        <p:txBody>
          <a:bodyPr>
            <a:normAutofit/>
          </a:bodyPr>
          <a:lstStyle/>
          <a:p>
            <a:pPr marL="0" indent="0" algn="just">
              <a:buNone/>
            </a:pPr>
            <a:r>
              <a:rPr lang="es-MX" sz="2400" noProof="0" dirty="0"/>
              <a:t>La unidad lógica aritmética funciona con lógica combinacional, es decir, cada que detecte un cambio en sus entradas, actualizara su resultado.</a:t>
            </a:r>
          </a:p>
          <a:p>
            <a:pPr marL="0" indent="0" algn="just">
              <a:buNone/>
            </a:pPr>
            <a:r>
              <a:rPr lang="es-MX" sz="2400" noProof="0" dirty="0"/>
              <a:t>La parte que nos ayuda a elegir o en este caso seleccionar que se hará con la información que le corresponde es la unidad de control de la ALU, que en este caso será nuestro multiplexor que hemos ingresado para que le de orden a nuestras instrucciones.</a:t>
            </a:r>
          </a:p>
        </p:txBody>
      </p:sp>
    </p:spTree>
    <p:extLst>
      <p:ext uri="{BB962C8B-B14F-4D97-AF65-F5344CB8AC3E}">
        <p14:creationId xmlns:p14="http://schemas.microsoft.com/office/powerpoint/2010/main" val="2887329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MX" noProof="0" dirty="0"/>
          </a:p>
        </p:txBody>
      </p:sp>
      <p:sp>
        <p:nvSpPr>
          <p:cNvPr id="2" name="Título 1">
            <a:extLst>
              <a:ext uri="{FF2B5EF4-FFF2-40B4-BE49-F238E27FC236}">
                <a16:creationId xmlns:a16="http://schemas.microsoft.com/office/drawing/2014/main" id="{57BE949A-1081-DCA1-4292-43C482F1DC51}"/>
              </a:ext>
            </a:extLst>
          </p:cNvPr>
          <p:cNvSpPr>
            <a:spLocks noGrp="1"/>
          </p:cNvSpPr>
          <p:nvPr>
            <p:ph type="title"/>
          </p:nvPr>
        </p:nvSpPr>
        <p:spPr>
          <a:xfrm>
            <a:off x="1137034" y="609597"/>
            <a:ext cx="9392421" cy="1330841"/>
          </a:xfrm>
        </p:spPr>
        <p:txBody>
          <a:bodyPr>
            <a:normAutofit/>
          </a:bodyPr>
          <a:lstStyle/>
          <a:p>
            <a:r>
              <a:rPr lang="es-MX" noProof="0" dirty="0"/>
              <a:t>Decodificación de cada instrucción:</a:t>
            </a:r>
          </a:p>
        </p:txBody>
      </p:sp>
      <p:sp>
        <p:nvSpPr>
          <p:cNvPr id="3" name="Marcador de contenido 2">
            <a:extLst>
              <a:ext uri="{FF2B5EF4-FFF2-40B4-BE49-F238E27FC236}">
                <a16:creationId xmlns:a16="http://schemas.microsoft.com/office/drawing/2014/main" id="{5EE88C5B-D76D-C32B-EB54-736205A42CD9}"/>
              </a:ext>
            </a:extLst>
          </p:cNvPr>
          <p:cNvSpPr>
            <a:spLocks noGrp="1"/>
          </p:cNvSpPr>
          <p:nvPr>
            <p:ph idx="1"/>
          </p:nvPr>
        </p:nvSpPr>
        <p:spPr>
          <a:xfrm>
            <a:off x="1137034" y="2198362"/>
            <a:ext cx="4958966" cy="3917773"/>
          </a:xfrm>
        </p:spPr>
        <p:txBody>
          <a:bodyPr>
            <a:normAutofit/>
          </a:bodyPr>
          <a:lstStyle/>
          <a:p>
            <a:pPr marL="0" indent="0" algn="just">
              <a:buNone/>
            </a:pPr>
            <a:r>
              <a:rPr lang="es-MX" sz="2000" noProof="0" dirty="0"/>
              <a:t>Como se menciono, cada que el selector detecte una combinación, este hará la operación que tenga asignada ese caso; Ejemplo:</a:t>
            </a:r>
          </a:p>
        </p:txBody>
      </p:sp>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MX" noProof="0" dirty="0"/>
          </a:p>
        </p:txBody>
      </p:sp>
      <p:graphicFrame>
        <p:nvGraphicFramePr>
          <p:cNvPr id="5" name="Tabla 4">
            <a:extLst>
              <a:ext uri="{FF2B5EF4-FFF2-40B4-BE49-F238E27FC236}">
                <a16:creationId xmlns:a16="http://schemas.microsoft.com/office/drawing/2014/main" id="{8C6E1558-6D43-3D25-C479-23F0D3C32E29}"/>
              </a:ext>
            </a:extLst>
          </p:cNvPr>
          <p:cNvGraphicFramePr>
            <a:graphicFrameLocks noGrp="1"/>
          </p:cNvGraphicFramePr>
          <p:nvPr>
            <p:extLst>
              <p:ext uri="{D42A27DB-BD31-4B8C-83A1-F6EECF244321}">
                <p14:modId xmlns:p14="http://schemas.microsoft.com/office/powerpoint/2010/main" val="2403758003"/>
              </p:ext>
            </p:extLst>
          </p:nvPr>
        </p:nvGraphicFramePr>
        <p:xfrm>
          <a:off x="6592529" y="1828800"/>
          <a:ext cx="4681468" cy="4190964"/>
        </p:xfrm>
        <a:graphic>
          <a:graphicData uri="http://schemas.openxmlformats.org/drawingml/2006/table">
            <a:tbl>
              <a:tblPr firstRow="1" bandRow="1">
                <a:tableStyleId>{616DA210-FB5B-4158-B5E0-FEB733F419BA}</a:tableStyleId>
              </a:tblPr>
              <a:tblGrid>
                <a:gridCol w="2340734">
                  <a:extLst>
                    <a:ext uri="{9D8B030D-6E8A-4147-A177-3AD203B41FA5}">
                      <a16:colId xmlns:a16="http://schemas.microsoft.com/office/drawing/2014/main" val="509238559"/>
                    </a:ext>
                  </a:extLst>
                </a:gridCol>
                <a:gridCol w="2340734">
                  <a:extLst>
                    <a:ext uri="{9D8B030D-6E8A-4147-A177-3AD203B41FA5}">
                      <a16:colId xmlns:a16="http://schemas.microsoft.com/office/drawing/2014/main" val="3693849464"/>
                    </a:ext>
                  </a:extLst>
                </a:gridCol>
              </a:tblGrid>
              <a:tr h="243184">
                <a:tc>
                  <a:txBody>
                    <a:bodyPr/>
                    <a:lstStyle/>
                    <a:p>
                      <a:pPr algn="ctr"/>
                      <a:r>
                        <a:rPr lang="es-MX" sz="1000" noProof="0" dirty="0"/>
                        <a:t>Combinación binaria</a:t>
                      </a:r>
                    </a:p>
                  </a:txBody>
                  <a:tcPr marL="50483" marR="50483" marT="25241" marB="25241"/>
                </a:tc>
                <a:tc>
                  <a:txBody>
                    <a:bodyPr/>
                    <a:lstStyle/>
                    <a:p>
                      <a:pPr algn="ctr"/>
                      <a:r>
                        <a:rPr lang="es-MX" sz="1000" noProof="0" dirty="0"/>
                        <a:t>Operación por realizar</a:t>
                      </a:r>
                    </a:p>
                  </a:txBody>
                  <a:tcPr marL="50483" marR="50483" marT="25241" marB="25241"/>
                </a:tc>
                <a:extLst>
                  <a:ext uri="{0D108BD9-81ED-4DB2-BD59-A6C34878D82A}">
                    <a16:rowId xmlns:a16="http://schemas.microsoft.com/office/drawing/2014/main" val="255000349"/>
                  </a:ext>
                </a:extLst>
              </a:tr>
              <a:tr h="276346">
                <a:tc>
                  <a:txBody>
                    <a:bodyPr/>
                    <a:lstStyle/>
                    <a:p>
                      <a:pPr algn="ctr"/>
                      <a:r>
                        <a:rPr lang="es-MX" sz="1000" b="1" noProof="0" dirty="0"/>
                        <a:t>0000</a:t>
                      </a:r>
                    </a:p>
                  </a:txBody>
                  <a:tcPr marL="50483" marR="50483" marT="25241" marB="25241"/>
                </a:tc>
                <a:tc>
                  <a:txBody>
                    <a:bodyPr/>
                    <a:lstStyle/>
                    <a:p>
                      <a:pPr algn="ctr"/>
                      <a:r>
                        <a:rPr lang="es-MX" sz="1000" b="1" noProof="0" dirty="0"/>
                        <a:t>Suma entre dos valores</a:t>
                      </a:r>
                    </a:p>
                  </a:txBody>
                  <a:tcPr marL="50483" marR="50483" marT="25241" marB="25241"/>
                </a:tc>
                <a:extLst>
                  <a:ext uri="{0D108BD9-81ED-4DB2-BD59-A6C34878D82A}">
                    <a16:rowId xmlns:a16="http://schemas.microsoft.com/office/drawing/2014/main" val="374902749"/>
                  </a:ext>
                </a:extLst>
              </a:tr>
              <a:tr h="276346">
                <a:tc>
                  <a:txBody>
                    <a:bodyPr/>
                    <a:lstStyle/>
                    <a:p>
                      <a:pPr algn="ctr"/>
                      <a:r>
                        <a:rPr lang="es-MX" sz="1000" b="1" noProof="0" dirty="0"/>
                        <a:t>0001</a:t>
                      </a:r>
                    </a:p>
                  </a:txBody>
                  <a:tcPr marL="50483" marR="50483" marT="25241" marB="25241"/>
                </a:tc>
                <a:tc>
                  <a:txBody>
                    <a:bodyPr/>
                    <a:lstStyle/>
                    <a:p>
                      <a:pPr algn="ctr"/>
                      <a:r>
                        <a:rPr lang="es-MX" sz="1000" b="1" noProof="0" dirty="0"/>
                        <a:t>Resta entre dos valores</a:t>
                      </a:r>
                    </a:p>
                  </a:txBody>
                  <a:tcPr marL="50483" marR="50483" marT="25241" marB="25241"/>
                </a:tc>
                <a:extLst>
                  <a:ext uri="{0D108BD9-81ED-4DB2-BD59-A6C34878D82A}">
                    <a16:rowId xmlns:a16="http://schemas.microsoft.com/office/drawing/2014/main" val="2165839285"/>
                  </a:ext>
                </a:extLst>
              </a:tr>
              <a:tr h="276346">
                <a:tc>
                  <a:txBody>
                    <a:bodyPr/>
                    <a:lstStyle/>
                    <a:p>
                      <a:pPr algn="ctr"/>
                      <a:r>
                        <a:rPr lang="es-MX" sz="1000" b="1" noProof="0" dirty="0"/>
                        <a:t>0010</a:t>
                      </a:r>
                    </a:p>
                  </a:txBody>
                  <a:tcPr marL="50483" marR="50483" marT="25241" marB="25241"/>
                </a:tc>
                <a:tc>
                  <a:txBody>
                    <a:bodyPr/>
                    <a:lstStyle/>
                    <a:p>
                      <a:pPr algn="ctr"/>
                      <a:r>
                        <a:rPr lang="es-MX" sz="1000" b="1" noProof="0" dirty="0"/>
                        <a:t>Operación AND</a:t>
                      </a:r>
                    </a:p>
                  </a:txBody>
                  <a:tcPr marL="50483" marR="50483" marT="25241" marB="25241"/>
                </a:tc>
                <a:extLst>
                  <a:ext uri="{0D108BD9-81ED-4DB2-BD59-A6C34878D82A}">
                    <a16:rowId xmlns:a16="http://schemas.microsoft.com/office/drawing/2014/main" val="3367051488"/>
                  </a:ext>
                </a:extLst>
              </a:tr>
              <a:tr h="276346">
                <a:tc>
                  <a:txBody>
                    <a:bodyPr/>
                    <a:lstStyle/>
                    <a:p>
                      <a:pPr algn="ctr"/>
                      <a:r>
                        <a:rPr lang="es-MX" sz="1000" b="1" noProof="0" dirty="0"/>
                        <a:t>0011</a:t>
                      </a:r>
                    </a:p>
                  </a:txBody>
                  <a:tcPr marL="50483" marR="50483" marT="25241" marB="25241"/>
                </a:tc>
                <a:tc>
                  <a:txBody>
                    <a:bodyPr/>
                    <a:lstStyle/>
                    <a:p>
                      <a:pPr algn="ctr"/>
                      <a:r>
                        <a:rPr lang="es-MX" sz="1000" b="1" noProof="0" dirty="0"/>
                        <a:t>Operación OR</a:t>
                      </a:r>
                    </a:p>
                  </a:txBody>
                  <a:tcPr marL="50483" marR="50483" marT="25241" marB="25241"/>
                </a:tc>
                <a:extLst>
                  <a:ext uri="{0D108BD9-81ED-4DB2-BD59-A6C34878D82A}">
                    <a16:rowId xmlns:a16="http://schemas.microsoft.com/office/drawing/2014/main" val="3126555836"/>
                  </a:ext>
                </a:extLst>
              </a:tr>
              <a:tr h="276346">
                <a:tc>
                  <a:txBody>
                    <a:bodyPr/>
                    <a:lstStyle/>
                    <a:p>
                      <a:pPr algn="ctr"/>
                      <a:r>
                        <a:rPr lang="es-MX" sz="1000" b="1" noProof="0" dirty="0"/>
                        <a:t>0100</a:t>
                      </a:r>
                    </a:p>
                  </a:txBody>
                  <a:tcPr marL="50483" marR="50483" marT="25241" marB="25241"/>
                </a:tc>
                <a:tc>
                  <a:txBody>
                    <a:bodyPr/>
                    <a:lstStyle/>
                    <a:p>
                      <a:pPr algn="ctr"/>
                      <a:r>
                        <a:rPr lang="es-MX" sz="1000" b="1" noProof="0" dirty="0"/>
                        <a:t>Operación X-OR</a:t>
                      </a:r>
                    </a:p>
                  </a:txBody>
                  <a:tcPr marL="50483" marR="50483" marT="25241" marB="25241"/>
                </a:tc>
                <a:extLst>
                  <a:ext uri="{0D108BD9-81ED-4DB2-BD59-A6C34878D82A}">
                    <a16:rowId xmlns:a16="http://schemas.microsoft.com/office/drawing/2014/main" val="3220875314"/>
                  </a:ext>
                </a:extLst>
              </a:tr>
              <a:tr h="276346">
                <a:tc>
                  <a:txBody>
                    <a:bodyPr/>
                    <a:lstStyle/>
                    <a:p>
                      <a:pPr algn="ctr"/>
                      <a:r>
                        <a:rPr lang="es-MX" sz="1000" b="1" noProof="0" dirty="0"/>
                        <a:t>0101</a:t>
                      </a:r>
                    </a:p>
                  </a:txBody>
                  <a:tcPr marL="50483" marR="50483" marT="25241" marB="25241"/>
                </a:tc>
                <a:tc>
                  <a:txBody>
                    <a:bodyPr/>
                    <a:lstStyle/>
                    <a:p>
                      <a:pPr algn="ctr"/>
                      <a:r>
                        <a:rPr lang="es-MX" sz="1000" b="1" noProof="0" dirty="0"/>
                        <a:t>Desplazamiento lógico a la izquierda</a:t>
                      </a:r>
                    </a:p>
                  </a:txBody>
                  <a:tcPr marL="50483" marR="50483" marT="25241" marB="25241"/>
                </a:tc>
                <a:extLst>
                  <a:ext uri="{0D108BD9-81ED-4DB2-BD59-A6C34878D82A}">
                    <a16:rowId xmlns:a16="http://schemas.microsoft.com/office/drawing/2014/main" val="4224045997"/>
                  </a:ext>
                </a:extLst>
              </a:tr>
              <a:tr h="276346">
                <a:tc>
                  <a:txBody>
                    <a:bodyPr/>
                    <a:lstStyle/>
                    <a:p>
                      <a:pPr algn="ctr"/>
                      <a:r>
                        <a:rPr lang="es-MX" sz="1000" b="1" noProof="0" dirty="0"/>
                        <a:t>0110</a:t>
                      </a:r>
                    </a:p>
                  </a:txBody>
                  <a:tcPr marL="50483" marR="50483" marT="25241" marB="25241"/>
                </a:tc>
                <a:tc>
                  <a:txBody>
                    <a:bodyPr/>
                    <a:lstStyle/>
                    <a:p>
                      <a:pPr algn="ctr"/>
                      <a:r>
                        <a:rPr lang="es-MX" sz="1000" b="1" noProof="0" dirty="0"/>
                        <a:t>Desplazamiento lógico a la derecha</a:t>
                      </a:r>
                    </a:p>
                  </a:txBody>
                  <a:tcPr marL="50483" marR="50483" marT="25241" marB="25241"/>
                </a:tc>
                <a:extLst>
                  <a:ext uri="{0D108BD9-81ED-4DB2-BD59-A6C34878D82A}">
                    <a16:rowId xmlns:a16="http://schemas.microsoft.com/office/drawing/2014/main" val="3240981774"/>
                  </a:ext>
                </a:extLst>
              </a:tr>
              <a:tr h="276346">
                <a:tc>
                  <a:txBody>
                    <a:bodyPr/>
                    <a:lstStyle/>
                    <a:p>
                      <a:pPr algn="ctr"/>
                      <a:r>
                        <a:rPr lang="es-MX" sz="1000" b="1" noProof="0" dirty="0"/>
                        <a:t>0111</a:t>
                      </a:r>
                    </a:p>
                  </a:txBody>
                  <a:tcPr marL="50483" marR="50483" marT="25241" marB="25241"/>
                </a:tc>
                <a:tc>
                  <a:txBody>
                    <a:bodyPr/>
                    <a:lstStyle/>
                    <a:p>
                      <a:pPr algn="ctr"/>
                      <a:r>
                        <a:rPr lang="es-MX" sz="1000" b="1" noProof="0" dirty="0"/>
                        <a:t>Desplazamiento aritmético a la derecha</a:t>
                      </a:r>
                    </a:p>
                  </a:txBody>
                  <a:tcPr marL="50483" marR="50483" marT="25241" marB="25241"/>
                </a:tc>
                <a:extLst>
                  <a:ext uri="{0D108BD9-81ED-4DB2-BD59-A6C34878D82A}">
                    <a16:rowId xmlns:a16="http://schemas.microsoft.com/office/drawing/2014/main" val="1440582573"/>
                  </a:ext>
                </a:extLst>
              </a:tr>
              <a:tr h="276346">
                <a:tc>
                  <a:txBody>
                    <a:bodyPr/>
                    <a:lstStyle/>
                    <a:p>
                      <a:pPr algn="ctr"/>
                      <a:r>
                        <a:rPr lang="es-MX" sz="1000" b="1" noProof="0" dirty="0"/>
                        <a:t>1000</a:t>
                      </a:r>
                    </a:p>
                  </a:txBody>
                  <a:tcPr marL="50483" marR="50483" marT="25241" marB="25241"/>
                </a:tc>
                <a:tc>
                  <a:txBody>
                    <a:bodyPr/>
                    <a:lstStyle/>
                    <a:p>
                      <a:pPr algn="ctr"/>
                      <a:r>
                        <a:rPr lang="es-MX" sz="1000" b="1" noProof="0" dirty="0"/>
                        <a:t>Muestra directa de la entrada A</a:t>
                      </a:r>
                    </a:p>
                  </a:txBody>
                  <a:tcPr marL="50483" marR="50483" marT="25241" marB="25241"/>
                </a:tc>
                <a:extLst>
                  <a:ext uri="{0D108BD9-81ED-4DB2-BD59-A6C34878D82A}">
                    <a16:rowId xmlns:a16="http://schemas.microsoft.com/office/drawing/2014/main" val="1887793058"/>
                  </a:ext>
                </a:extLst>
              </a:tr>
              <a:tr h="276346">
                <a:tc>
                  <a:txBody>
                    <a:bodyPr/>
                    <a:lstStyle/>
                    <a:p>
                      <a:pPr algn="ctr"/>
                      <a:r>
                        <a:rPr lang="es-MX" sz="1000" b="1" noProof="0" dirty="0"/>
                        <a:t>1001</a:t>
                      </a:r>
                    </a:p>
                  </a:txBody>
                  <a:tcPr marL="50483" marR="50483" marT="25241" marB="25241"/>
                </a:tc>
                <a:tc>
                  <a:txBody>
                    <a:bodyPr/>
                    <a:lstStyle/>
                    <a:p>
                      <a:pPr algn="ctr"/>
                      <a:r>
                        <a:rPr lang="es-MX" sz="1000" b="1" noProof="0" dirty="0"/>
                        <a:t>Muestra directa de la entrada B</a:t>
                      </a:r>
                    </a:p>
                  </a:txBody>
                  <a:tcPr marL="50483" marR="50483" marT="25241" marB="25241"/>
                </a:tc>
                <a:extLst>
                  <a:ext uri="{0D108BD9-81ED-4DB2-BD59-A6C34878D82A}">
                    <a16:rowId xmlns:a16="http://schemas.microsoft.com/office/drawing/2014/main" val="2251168733"/>
                  </a:ext>
                </a:extLst>
              </a:tr>
              <a:tr h="276346">
                <a:tc>
                  <a:txBody>
                    <a:bodyPr/>
                    <a:lstStyle/>
                    <a:p>
                      <a:pPr algn="ctr"/>
                      <a:r>
                        <a:rPr lang="es-MX" sz="1000" b="1" noProof="0" dirty="0"/>
                        <a:t>1010</a:t>
                      </a:r>
                    </a:p>
                  </a:txBody>
                  <a:tcPr marL="50483" marR="50483" marT="25241" marB="25241"/>
                </a:tc>
                <a:tc>
                  <a:txBody>
                    <a:bodyPr/>
                    <a:lstStyle/>
                    <a:p>
                      <a:pPr algn="ctr"/>
                      <a:r>
                        <a:rPr lang="es-MX" sz="1000" b="1" noProof="0" dirty="0"/>
                        <a:t>Revisa si son iguales los datos</a:t>
                      </a:r>
                    </a:p>
                  </a:txBody>
                  <a:tcPr marL="50483" marR="50483" marT="25241" marB="25241"/>
                </a:tc>
                <a:extLst>
                  <a:ext uri="{0D108BD9-81ED-4DB2-BD59-A6C34878D82A}">
                    <a16:rowId xmlns:a16="http://schemas.microsoft.com/office/drawing/2014/main" val="1216127298"/>
                  </a:ext>
                </a:extLst>
              </a:tr>
              <a:tr h="276346">
                <a:tc>
                  <a:txBody>
                    <a:bodyPr/>
                    <a:lstStyle/>
                    <a:p>
                      <a:pPr algn="ctr"/>
                      <a:r>
                        <a:rPr lang="es-MX" sz="1000" b="1" noProof="0" dirty="0"/>
                        <a:t>1011</a:t>
                      </a:r>
                    </a:p>
                  </a:txBody>
                  <a:tcPr marL="50483" marR="50483" marT="25241" marB="25241"/>
                </a:tc>
                <a:tc>
                  <a:txBody>
                    <a:bodyPr/>
                    <a:lstStyle/>
                    <a:p>
                      <a:pPr algn="ctr"/>
                      <a:r>
                        <a:rPr lang="es-MX" sz="1000" b="1" noProof="0" dirty="0"/>
                        <a:t>Revisa si son desiguales</a:t>
                      </a:r>
                    </a:p>
                  </a:txBody>
                  <a:tcPr marL="50483" marR="50483" marT="25241" marB="25241"/>
                </a:tc>
                <a:extLst>
                  <a:ext uri="{0D108BD9-81ED-4DB2-BD59-A6C34878D82A}">
                    <a16:rowId xmlns:a16="http://schemas.microsoft.com/office/drawing/2014/main" val="868093052"/>
                  </a:ext>
                </a:extLst>
              </a:tr>
              <a:tr h="276346">
                <a:tc>
                  <a:txBody>
                    <a:bodyPr/>
                    <a:lstStyle/>
                    <a:p>
                      <a:pPr algn="ctr"/>
                      <a:r>
                        <a:rPr lang="es-MX" sz="1000" b="1" noProof="0" dirty="0"/>
                        <a:t>1100</a:t>
                      </a:r>
                    </a:p>
                  </a:txBody>
                  <a:tcPr marL="50483" marR="50483" marT="25241" marB="25241"/>
                </a:tc>
                <a:tc>
                  <a:txBody>
                    <a:bodyPr/>
                    <a:lstStyle/>
                    <a:p>
                      <a:pPr algn="ctr"/>
                      <a:r>
                        <a:rPr lang="es-MX" sz="1000" b="1" noProof="0" dirty="0"/>
                        <a:t>Si es menor </a:t>
                      </a:r>
                    </a:p>
                  </a:txBody>
                  <a:tcPr marL="50483" marR="50483" marT="25241" marB="25241"/>
                </a:tc>
                <a:extLst>
                  <a:ext uri="{0D108BD9-81ED-4DB2-BD59-A6C34878D82A}">
                    <a16:rowId xmlns:a16="http://schemas.microsoft.com/office/drawing/2014/main" val="773986463"/>
                  </a:ext>
                </a:extLst>
              </a:tr>
              <a:tr h="276346">
                <a:tc>
                  <a:txBody>
                    <a:bodyPr/>
                    <a:lstStyle/>
                    <a:p>
                      <a:pPr algn="ctr"/>
                      <a:r>
                        <a:rPr lang="es-MX" sz="1000" b="1" noProof="0" dirty="0"/>
                        <a:t>1101</a:t>
                      </a:r>
                    </a:p>
                  </a:txBody>
                  <a:tcPr marL="50483" marR="50483" marT="25241" marB="25241"/>
                </a:tc>
                <a:tc>
                  <a:txBody>
                    <a:bodyPr/>
                    <a:lstStyle/>
                    <a:p>
                      <a:pPr algn="ctr"/>
                      <a:r>
                        <a:rPr lang="es-MX" sz="1000" b="1" noProof="0" dirty="0"/>
                        <a:t>Si es menor sin signo</a:t>
                      </a:r>
                    </a:p>
                  </a:txBody>
                  <a:tcPr marL="50483" marR="50483" marT="25241" marB="25241"/>
                </a:tc>
                <a:extLst>
                  <a:ext uri="{0D108BD9-81ED-4DB2-BD59-A6C34878D82A}">
                    <a16:rowId xmlns:a16="http://schemas.microsoft.com/office/drawing/2014/main" val="1692209318"/>
                  </a:ext>
                </a:extLst>
              </a:tr>
            </a:tbl>
          </a:graphicData>
        </a:graphic>
      </p:graphicFrame>
    </p:spTree>
    <p:extLst>
      <p:ext uri="{BB962C8B-B14F-4D97-AF65-F5344CB8AC3E}">
        <p14:creationId xmlns:p14="http://schemas.microsoft.com/office/powerpoint/2010/main" val="1621418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202535-06AA-E3A4-7CCC-5DB1427EF7EE}"/>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EC0CCFB-5A77-850F-0B67-4D860A4BB8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grpSp>
        <p:nvGrpSpPr>
          <p:cNvPr id="30" name="Group 29">
            <a:extLst>
              <a:ext uri="{FF2B5EF4-FFF2-40B4-BE49-F238E27FC236}">
                <a16:creationId xmlns:a16="http://schemas.microsoft.com/office/drawing/2014/main" id="{38BF21C9-8FFB-06DA-1B84-7A7F43A97E4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31" name="Straight Connector 30">
              <a:extLst>
                <a:ext uri="{FF2B5EF4-FFF2-40B4-BE49-F238E27FC236}">
                  <a16:creationId xmlns:a16="http://schemas.microsoft.com/office/drawing/2014/main" id="{BCC189C8-D948-2662-DF38-6A26F7BE31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31BA99F6-24F7-F3AE-6AE6-C3FF5E265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grpSp>
      <p:sp>
        <p:nvSpPr>
          <p:cNvPr id="34" name="Rectangle 33">
            <a:extLst>
              <a:ext uri="{FF2B5EF4-FFF2-40B4-BE49-F238E27FC236}">
                <a16:creationId xmlns:a16="http://schemas.microsoft.com/office/drawing/2014/main" id="{4CE7450B-13F7-20EF-AD9A-930EE1206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9" name="Rectángulo 8">
            <a:extLst>
              <a:ext uri="{FF2B5EF4-FFF2-40B4-BE49-F238E27FC236}">
                <a16:creationId xmlns:a16="http://schemas.microsoft.com/office/drawing/2014/main" id="{52E5FEE1-6F97-16E6-52FD-4D7DECBDB17A}"/>
              </a:ext>
            </a:extLst>
          </p:cNvPr>
          <p:cNvSpPr/>
          <p:nvPr/>
        </p:nvSpPr>
        <p:spPr>
          <a:xfrm>
            <a:off x="290513" y="318044"/>
            <a:ext cx="4326184" cy="51632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MX" noProof="0" dirty="0"/>
          </a:p>
        </p:txBody>
      </p:sp>
      <p:sp>
        <p:nvSpPr>
          <p:cNvPr id="2" name="Título 1">
            <a:extLst>
              <a:ext uri="{FF2B5EF4-FFF2-40B4-BE49-F238E27FC236}">
                <a16:creationId xmlns:a16="http://schemas.microsoft.com/office/drawing/2014/main" id="{8A247A77-EFA9-8C6B-74F8-A84E6F62EC3A}"/>
              </a:ext>
            </a:extLst>
          </p:cNvPr>
          <p:cNvSpPr>
            <a:spLocks noGrp="1"/>
          </p:cNvSpPr>
          <p:nvPr>
            <p:ph type="title"/>
          </p:nvPr>
        </p:nvSpPr>
        <p:spPr>
          <a:xfrm>
            <a:off x="767476" y="156166"/>
            <a:ext cx="10071536" cy="929750"/>
          </a:xfrm>
        </p:spPr>
        <p:txBody>
          <a:bodyPr vert="horz" lIns="91440" tIns="45720" rIns="91440" bIns="45720" rtlCol="0" anchor="b">
            <a:normAutofit/>
          </a:bodyPr>
          <a:lstStyle/>
          <a:p>
            <a:pPr algn="ctr"/>
            <a:r>
              <a:rPr lang="es-MX" sz="5200" noProof="0" dirty="0"/>
              <a:t>Código</a:t>
            </a:r>
          </a:p>
        </p:txBody>
      </p:sp>
      <p:sp>
        <p:nvSpPr>
          <p:cNvPr id="4" name="CuadroTexto 3">
            <a:extLst>
              <a:ext uri="{FF2B5EF4-FFF2-40B4-BE49-F238E27FC236}">
                <a16:creationId xmlns:a16="http://schemas.microsoft.com/office/drawing/2014/main" id="{796C5487-101B-3133-F5DE-9EA09973EBD1}"/>
              </a:ext>
            </a:extLst>
          </p:cNvPr>
          <p:cNvSpPr txBox="1"/>
          <p:nvPr/>
        </p:nvSpPr>
        <p:spPr>
          <a:xfrm>
            <a:off x="484416" y="318044"/>
            <a:ext cx="4051769" cy="5078313"/>
          </a:xfrm>
          <a:prstGeom prst="rect">
            <a:avLst/>
          </a:prstGeom>
          <a:noFill/>
        </p:spPr>
        <p:txBody>
          <a:bodyPr wrap="square">
            <a:spAutoFit/>
          </a:bodyPr>
          <a:lstStyle/>
          <a:p>
            <a:r>
              <a:rPr lang="es-MX" sz="1800" b="1" noProof="0" dirty="0">
                <a:solidFill>
                  <a:srgbClr val="0000FF"/>
                </a:solidFill>
                <a:highlight>
                  <a:srgbClr val="FFFFFF"/>
                </a:highlight>
                <a:latin typeface="Courier New" panose="02070309020205020404" pitchFamily="49" charset="0"/>
              </a:rPr>
              <a:t>module</a:t>
            </a:r>
            <a:r>
              <a:rPr lang="es-MX" sz="1800" b="0" noProof="0" dirty="0">
                <a:solidFill>
                  <a:srgbClr val="000000"/>
                </a:solidFill>
                <a:highlight>
                  <a:srgbClr val="FFFFFF"/>
                </a:highlight>
                <a:latin typeface="Courier New" panose="02070309020205020404" pitchFamily="49" charset="0"/>
              </a:rPr>
              <a:t> ALU</a:t>
            </a:r>
            <a:r>
              <a:rPr lang="es-MX" sz="1800" b="1" noProof="0" dirty="0">
                <a:solidFill>
                  <a:srgbClr val="000080"/>
                </a:solidFill>
                <a:highlight>
                  <a:srgbClr val="FFFFFF"/>
                </a:highlight>
                <a:latin typeface="Courier New" panose="02070309020205020404" pitchFamily="49" charset="0"/>
              </a:rPr>
              <a:t>(</a:t>
            </a:r>
            <a:endParaRPr lang="es-MX" sz="1800" b="0" noProof="0" dirty="0">
              <a:solidFill>
                <a:srgbClr val="000000"/>
              </a:solidFill>
              <a:highlight>
                <a:srgbClr val="FFFFFF"/>
              </a:highlight>
              <a:latin typeface="Courier New" panose="02070309020205020404" pitchFamily="49" charset="0"/>
            </a:endParaRPr>
          </a:p>
          <a:p>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FF"/>
                </a:solidFill>
                <a:highlight>
                  <a:srgbClr val="FFFFFF"/>
                </a:highlight>
                <a:latin typeface="Courier New" panose="02070309020205020404" pitchFamily="49" charset="0"/>
              </a:rPr>
              <a:t>input</a:t>
            </a:r>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FF8000"/>
                </a:solidFill>
                <a:highlight>
                  <a:srgbClr val="FFFFFF"/>
                </a:highlight>
                <a:latin typeface="Courier New" panose="02070309020205020404" pitchFamily="49" charset="0"/>
              </a:rPr>
              <a:t>31</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FF8000"/>
                </a:solidFill>
                <a:highlight>
                  <a:srgbClr val="FFFFFF"/>
                </a:highlight>
                <a:latin typeface="Courier New" panose="02070309020205020404" pitchFamily="49" charset="0"/>
              </a:rPr>
              <a:t>0</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000000"/>
                </a:solidFill>
                <a:highlight>
                  <a:srgbClr val="FFFFFF"/>
                </a:highlight>
                <a:latin typeface="Courier New" panose="02070309020205020404" pitchFamily="49" charset="0"/>
              </a:rPr>
              <a:t> </a:t>
            </a:r>
            <a:r>
              <a:rPr lang="es-MX" sz="1800" b="0" noProof="0" dirty="0" err="1">
                <a:solidFill>
                  <a:srgbClr val="000000"/>
                </a:solidFill>
                <a:highlight>
                  <a:srgbClr val="FFFFFF"/>
                </a:highlight>
                <a:latin typeface="Courier New" panose="02070309020205020404" pitchFamily="49" charset="0"/>
              </a:rPr>
              <a:t>a_in</a:t>
            </a:r>
            <a:r>
              <a:rPr lang="es-MX" sz="1800" b="1" noProof="0" dirty="0">
                <a:solidFill>
                  <a:srgbClr val="000080"/>
                </a:solidFill>
                <a:highlight>
                  <a:srgbClr val="FFFFFF"/>
                </a:highlight>
                <a:latin typeface="Courier New" panose="02070309020205020404" pitchFamily="49" charset="0"/>
              </a:rPr>
              <a:t>,</a:t>
            </a:r>
            <a:endParaRPr lang="es-MX" sz="1800" b="0" noProof="0" dirty="0">
              <a:solidFill>
                <a:srgbClr val="000000"/>
              </a:solidFill>
              <a:highlight>
                <a:srgbClr val="FFFFFF"/>
              </a:highlight>
              <a:latin typeface="Courier New" panose="02070309020205020404" pitchFamily="49" charset="0"/>
            </a:endParaRPr>
          </a:p>
          <a:p>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FF"/>
                </a:solidFill>
                <a:highlight>
                  <a:srgbClr val="FFFFFF"/>
                </a:highlight>
                <a:latin typeface="Courier New" panose="02070309020205020404" pitchFamily="49" charset="0"/>
              </a:rPr>
              <a:t>input</a:t>
            </a:r>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FF8000"/>
                </a:solidFill>
                <a:highlight>
                  <a:srgbClr val="FFFFFF"/>
                </a:highlight>
                <a:latin typeface="Courier New" panose="02070309020205020404" pitchFamily="49" charset="0"/>
              </a:rPr>
              <a:t>31</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FF8000"/>
                </a:solidFill>
                <a:highlight>
                  <a:srgbClr val="FFFFFF"/>
                </a:highlight>
                <a:latin typeface="Courier New" panose="02070309020205020404" pitchFamily="49" charset="0"/>
              </a:rPr>
              <a:t>0</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000000"/>
                </a:solidFill>
                <a:highlight>
                  <a:srgbClr val="FFFFFF"/>
                </a:highlight>
                <a:latin typeface="Courier New" panose="02070309020205020404" pitchFamily="49" charset="0"/>
              </a:rPr>
              <a:t> </a:t>
            </a:r>
            <a:r>
              <a:rPr lang="es-MX" sz="1800" b="0" noProof="0" dirty="0" err="1">
                <a:solidFill>
                  <a:srgbClr val="000000"/>
                </a:solidFill>
                <a:highlight>
                  <a:srgbClr val="FFFFFF"/>
                </a:highlight>
                <a:latin typeface="Courier New" panose="02070309020205020404" pitchFamily="49" charset="0"/>
              </a:rPr>
              <a:t>b_in</a:t>
            </a:r>
            <a:r>
              <a:rPr lang="es-MX" sz="1800" b="1" noProof="0" dirty="0">
                <a:solidFill>
                  <a:srgbClr val="000080"/>
                </a:solidFill>
                <a:highlight>
                  <a:srgbClr val="FFFFFF"/>
                </a:highlight>
                <a:latin typeface="Courier New" panose="02070309020205020404" pitchFamily="49" charset="0"/>
              </a:rPr>
              <a:t>,</a:t>
            </a:r>
            <a:endParaRPr lang="es-MX" sz="1800" b="0" noProof="0" dirty="0">
              <a:solidFill>
                <a:srgbClr val="000000"/>
              </a:solidFill>
              <a:highlight>
                <a:srgbClr val="FFFFFF"/>
              </a:highlight>
              <a:latin typeface="Courier New" panose="02070309020205020404" pitchFamily="49" charset="0"/>
            </a:endParaRPr>
          </a:p>
          <a:p>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FF"/>
                </a:solidFill>
                <a:highlight>
                  <a:srgbClr val="FFFFFF"/>
                </a:highlight>
                <a:latin typeface="Courier New" panose="02070309020205020404" pitchFamily="49" charset="0"/>
              </a:rPr>
              <a:t>input</a:t>
            </a:r>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FF8000"/>
                </a:solidFill>
                <a:highlight>
                  <a:srgbClr val="FFFFFF"/>
                </a:highlight>
                <a:latin typeface="Courier New" panose="02070309020205020404" pitchFamily="49" charset="0"/>
              </a:rPr>
              <a:t>3</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FF8000"/>
                </a:solidFill>
                <a:highlight>
                  <a:srgbClr val="FFFFFF"/>
                </a:highlight>
                <a:latin typeface="Courier New" panose="02070309020205020404" pitchFamily="49" charset="0"/>
              </a:rPr>
              <a:t>0</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000000"/>
                </a:solidFill>
                <a:highlight>
                  <a:srgbClr val="FFFFFF"/>
                </a:highlight>
                <a:latin typeface="Courier New" panose="02070309020205020404" pitchFamily="49" charset="0"/>
              </a:rPr>
              <a:t> </a:t>
            </a:r>
            <a:r>
              <a:rPr lang="es-MX" sz="1800" b="0" noProof="0" dirty="0" err="1">
                <a:solidFill>
                  <a:srgbClr val="000000"/>
                </a:solidFill>
                <a:highlight>
                  <a:srgbClr val="FFFFFF"/>
                </a:highlight>
                <a:latin typeface="Courier New" panose="02070309020205020404" pitchFamily="49" charset="0"/>
              </a:rPr>
              <a:t>select</a:t>
            </a:r>
            <a:r>
              <a:rPr lang="es-MX" sz="1800" b="1" noProof="0" dirty="0">
                <a:solidFill>
                  <a:srgbClr val="000080"/>
                </a:solidFill>
                <a:highlight>
                  <a:srgbClr val="FFFFFF"/>
                </a:highlight>
                <a:latin typeface="Courier New" panose="02070309020205020404" pitchFamily="49" charset="0"/>
              </a:rPr>
              <a:t>,</a:t>
            </a:r>
            <a:endParaRPr lang="es-MX" sz="1800" b="0" noProof="0" dirty="0">
              <a:solidFill>
                <a:srgbClr val="000000"/>
              </a:solidFill>
              <a:highlight>
                <a:srgbClr val="FFFFFF"/>
              </a:highlight>
              <a:latin typeface="Courier New" panose="02070309020205020404" pitchFamily="49" charset="0"/>
            </a:endParaRPr>
          </a:p>
          <a:p>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FF"/>
                </a:solidFill>
                <a:highlight>
                  <a:srgbClr val="FFFFFF"/>
                </a:highlight>
                <a:latin typeface="Courier New" panose="02070309020205020404" pitchFamily="49" charset="0"/>
              </a:rPr>
              <a:t>output</a:t>
            </a:r>
            <a:r>
              <a:rPr lang="es-MX" sz="1800" b="0" noProof="0" dirty="0">
                <a:solidFill>
                  <a:srgbClr val="000000"/>
                </a:solidFill>
                <a:highlight>
                  <a:srgbClr val="FFFFFF"/>
                </a:highlight>
                <a:latin typeface="Courier New" panose="02070309020205020404" pitchFamily="49" charset="0"/>
              </a:rPr>
              <a:t> </a:t>
            </a:r>
            <a:r>
              <a:rPr lang="es-MX" sz="1800" b="1" noProof="0" dirty="0" err="1">
                <a:solidFill>
                  <a:srgbClr val="0000FF"/>
                </a:solidFill>
                <a:highlight>
                  <a:srgbClr val="FFFFFF"/>
                </a:highlight>
                <a:latin typeface="Courier New" panose="02070309020205020404" pitchFamily="49" charset="0"/>
              </a:rPr>
              <a:t>reg</a:t>
            </a:r>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FF8000"/>
                </a:solidFill>
                <a:highlight>
                  <a:srgbClr val="FFFFFF"/>
                </a:highlight>
                <a:latin typeface="Courier New" panose="02070309020205020404" pitchFamily="49" charset="0"/>
              </a:rPr>
              <a:t>31</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FF8000"/>
                </a:solidFill>
                <a:highlight>
                  <a:srgbClr val="FFFFFF"/>
                </a:highlight>
                <a:latin typeface="Courier New" panose="02070309020205020404" pitchFamily="49" charset="0"/>
              </a:rPr>
              <a:t>0</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000000"/>
                </a:solidFill>
                <a:highlight>
                  <a:srgbClr val="FFFFFF"/>
                </a:highlight>
                <a:latin typeface="Courier New" panose="02070309020205020404" pitchFamily="49" charset="0"/>
              </a:rPr>
              <a:t> </a:t>
            </a:r>
            <a:r>
              <a:rPr lang="es-MX" sz="1800" b="0" noProof="0" dirty="0" err="1">
                <a:solidFill>
                  <a:srgbClr val="000000"/>
                </a:solidFill>
                <a:highlight>
                  <a:srgbClr val="FFFFFF"/>
                </a:highlight>
                <a:latin typeface="Courier New" panose="02070309020205020404" pitchFamily="49" charset="0"/>
              </a:rPr>
              <a:t>out</a:t>
            </a:r>
            <a:r>
              <a:rPr lang="es-MX" sz="1800" b="1" noProof="0" dirty="0">
                <a:solidFill>
                  <a:srgbClr val="000080"/>
                </a:solidFill>
                <a:highlight>
                  <a:srgbClr val="FFFFFF"/>
                </a:highlight>
                <a:latin typeface="Courier New" panose="02070309020205020404" pitchFamily="49" charset="0"/>
              </a:rPr>
              <a:t>,</a:t>
            </a:r>
            <a:endParaRPr lang="es-MX" sz="1800" b="0" noProof="0" dirty="0">
              <a:solidFill>
                <a:srgbClr val="000000"/>
              </a:solidFill>
              <a:highlight>
                <a:srgbClr val="FFFFFF"/>
              </a:highlight>
              <a:latin typeface="Courier New" panose="02070309020205020404" pitchFamily="49" charset="0"/>
            </a:endParaRPr>
          </a:p>
          <a:p>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FF"/>
                </a:solidFill>
                <a:highlight>
                  <a:srgbClr val="FFFFFF"/>
                </a:highlight>
                <a:latin typeface="Courier New" panose="02070309020205020404" pitchFamily="49" charset="0"/>
              </a:rPr>
              <a:t>output</a:t>
            </a:r>
            <a:r>
              <a:rPr lang="es-MX" sz="1800" b="0" noProof="0" dirty="0">
                <a:solidFill>
                  <a:srgbClr val="000000"/>
                </a:solidFill>
                <a:highlight>
                  <a:srgbClr val="FFFFFF"/>
                </a:highlight>
                <a:latin typeface="Courier New" panose="02070309020205020404" pitchFamily="49" charset="0"/>
              </a:rPr>
              <a:t> </a:t>
            </a:r>
            <a:r>
              <a:rPr lang="es-MX" sz="1800" b="1" noProof="0" dirty="0" err="1">
                <a:solidFill>
                  <a:srgbClr val="0000FF"/>
                </a:solidFill>
                <a:highlight>
                  <a:srgbClr val="FFFFFF"/>
                </a:highlight>
                <a:latin typeface="Courier New" panose="02070309020205020404" pitchFamily="49" charset="0"/>
              </a:rPr>
              <a:t>reg</a:t>
            </a:r>
            <a:r>
              <a:rPr lang="es-MX" sz="1800" b="0" noProof="0" dirty="0">
                <a:solidFill>
                  <a:srgbClr val="000000"/>
                </a:solidFill>
                <a:highlight>
                  <a:srgbClr val="FFFFFF"/>
                </a:highlight>
                <a:latin typeface="Courier New" panose="02070309020205020404" pitchFamily="49" charset="0"/>
              </a:rPr>
              <a:t> </a:t>
            </a:r>
            <a:r>
              <a:rPr lang="es-MX" sz="1800" b="0" noProof="0" dirty="0" err="1">
                <a:solidFill>
                  <a:srgbClr val="000000"/>
                </a:solidFill>
                <a:highlight>
                  <a:srgbClr val="FFFFFF"/>
                </a:highlight>
                <a:latin typeface="Courier New" panose="02070309020205020404" pitchFamily="49" charset="0"/>
              </a:rPr>
              <a:t>flagZ</a:t>
            </a:r>
            <a:r>
              <a:rPr lang="es-MX" sz="1800" b="1" noProof="0" dirty="0">
                <a:solidFill>
                  <a:srgbClr val="000080"/>
                </a:solidFill>
                <a:highlight>
                  <a:srgbClr val="FFFFFF"/>
                </a:highlight>
                <a:latin typeface="Courier New" panose="02070309020205020404" pitchFamily="49" charset="0"/>
              </a:rPr>
              <a:t>,</a:t>
            </a:r>
            <a:endParaRPr lang="es-MX" sz="1800" b="0" noProof="0" dirty="0">
              <a:solidFill>
                <a:srgbClr val="000000"/>
              </a:solidFill>
              <a:highlight>
                <a:srgbClr val="FFFFFF"/>
              </a:highlight>
              <a:latin typeface="Courier New" panose="02070309020205020404" pitchFamily="49" charset="0"/>
            </a:endParaRPr>
          </a:p>
          <a:p>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FF"/>
                </a:solidFill>
                <a:highlight>
                  <a:srgbClr val="FFFFFF"/>
                </a:highlight>
                <a:latin typeface="Courier New" panose="02070309020205020404" pitchFamily="49" charset="0"/>
              </a:rPr>
              <a:t>output</a:t>
            </a:r>
            <a:r>
              <a:rPr lang="es-MX" sz="1800" b="0" noProof="0" dirty="0">
                <a:solidFill>
                  <a:srgbClr val="000000"/>
                </a:solidFill>
                <a:highlight>
                  <a:srgbClr val="FFFFFF"/>
                </a:highlight>
                <a:latin typeface="Courier New" panose="02070309020205020404" pitchFamily="49" charset="0"/>
              </a:rPr>
              <a:t> </a:t>
            </a:r>
            <a:r>
              <a:rPr lang="es-MX" sz="1800" b="1" noProof="0" dirty="0" err="1">
                <a:solidFill>
                  <a:srgbClr val="0000FF"/>
                </a:solidFill>
                <a:highlight>
                  <a:srgbClr val="FFFFFF"/>
                </a:highlight>
                <a:latin typeface="Courier New" panose="02070309020205020404" pitchFamily="49" charset="0"/>
              </a:rPr>
              <a:t>reg</a:t>
            </a:r>
            <a:r>
              <a:rPr lang="es-MX" sz="1800" b="0" noProof="0" dirty="0">
                <a:solidFill>
                  <a:srgbClr val="000000"/>
                </a:solidFill>
                <a:highlight>
                  <a:srgbClr val="FFFFFF"/>
                </a:highlight>
                <a:latin typeface="Courier New" panose="02070309020205020404" pitchFamily="49" charset="0"/>
              </a:rPr>
              <a:t> </a:t>
            </a:r>
            <a:r>
              <a:rPr lang="es-MX" sz="1800" b="0" noProof="0" dirty="0" err="1">
                <a:solidFill>
                  <a:srgbClr val="000000"/>
                </a:solidFill>
                <a:highlight>
                  <a:srgbClr val="FFFFFF"/>
                </a:highlight>
                <a:latin typeface="Courier New" panose="02070309020205020404" pitchFamily="49" charset="0"/>
              </a:rPr>
              <a:t>flagC</a:t>
            </a:r>
            <a:endParaRPr lang="es-MX" sz="1800" b="0" noProof="0" dirty="0">
              <a:solidFill>
                <a:srgbClr val="000000"/>
              </a:solidFill>
              <a:highlight>
                <a:srgbClr val="FFFFFF"/>
              </a:highlight>
              <a:latin typeface="Courier New" panose="02070309020205020404" pitchFamily="49" charset="0"/>
            </a:endParaRPr>
          </a:p>
          <a:p>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000000"/>
                </a:solidFill>
                <a:highlight>
                  <a:srgbClr val="FFFFFF"/>
                </a:highlight>
                <a:latin typeface="Courier New" panose="02070309020205020404" pitchFamily="49" charset="0"/>
              </a:rPr>
              <a:t>	</a:t>
            </a:r>
            <a:r>
              <a:rPr lang="es-MX" sz="1800" b="1" noProof="0" dirty="0" err="1">
                <a:solidFill>
                  <a:srgbClr val="0000FF"/>
                </a:solidFill>
                <a:highlight>
                  <a:srgbClr val="FFFFFF"/>
                </a:highlight>
                <a:latin typeface="Courier New" panose="02070309020205020404" pitchFamily="49" charset="0"/>
              </a:rPr>
              <a:t>reg</a:t>
            </a:r>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FF8000"/>
                </a:solidFill>
                <a:highlight>
                  <a:srgbClr val="FFFFFF"/>
                </a:highlight>
                <a:latin typeface="Courier New" panose="02070309020205020404" pitchFamily="49" charset="0"/>
              </a:rPr>
              <a:t>32</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FF8000"/>
                </a:solidFill>
                <a:highlight>
                  <a:srgbClr val="FFFFFF"/>
                </a:highlight>
                <a:latin typeface="Courier New" panose="02070309020205020404" pitchFamily="49" charset="0"/>
              </a:rPr>
              <a:t>0</a:t>
            </a:r>
            <a:r>
              <a:rPr lang="es-MX" sz="1800" b="1" noProof="0" dirty="0">
                <a:solidFill>
                  <a:srgbClr val="000080"/>
                </a:solidFill>
                <a:highlight>
                  <a:srgbClr val="FFFFFF"/>
                </a:highlight>
                <a:latin typeface="Courier New" panose="02070309020205020404" pitchFamily="49" charset="0"/>
              </a:rPr>
              <a:t>]</a:t>
            </a:r>
            <a:r>
              <a:rPr lang="es-MX" sz="1800" b="0" noProof="0" dirty="0" err="1">
                <a:solidFill>
                  <a:srgbClr val="000000"/>
                </a:solidFill>
                <a:highlight>
                  <a:srgbClr val="FFFFFF"/>
                </a:highlight>
                <a:latin typeface="Courier New" panose="02070309020205020404" pitchFamily="49" charset="0"/>
              </a:rPr>
              <a:t>flagt</a:t>
            </a:r>
            <a:r>
              <a:rPr lang="es-MX" sz="1800" b="1" noProof="0" dirty="0">
                <a:solidFill>
                  <a:srgbClr val="000080"/>
                </a:solidFill>
                <a:highlight>
                  <a:srgbClr val="FFFFFF"/>
                </a:highlight>
                <a:latin typeface="Courier New" panose="02070309020205020404" pitchFamily="49" charset="0"/>
              </a:rPr>
              <a:t>;</a:t>
            </a:r>
            <a:endParaRPr lang="es-MX" sz="1800" b="0" noProof="0" dirty="0">
              <a:solidFill>
                <a:srgbClr val="000000"/>
              </a:solidFill>
              <a:highlight>
                <a:srgbClr val="FFFFFF"/>
              </a:highlight>
              <a:latin typeface="Courier New" panose="02070309020205020404" pitchFamily="49" charset="0"/>
            </a:endParaRPr>
          </a:p>
          <a:p>
            <a:r>
              <a:rPr lang="es-MX" sz="1800" b="1" noProof="0" dirty="0" err="1">
                <a:solidFill>
                  <a:srgbClr val="0000FF"/>
                </a:solidFill>
                <a:highlight>
                  <a:srgbClr val="FFFFFF"/>
                </a:highlight>
                <a:latin typeface="Courier New" panose="02070309020205020404" pitchFamily="49" charset="0"/>
              </a:rPr>
              <a:t>always</a:t>
            </a:r>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80"/>
                </a:solidFill>
                <a:highlight>
                  <a:srgbClr val="FFFFFF"/>
                </a:highlight>
                <a:latin typeface="Courier New" panose="02070309020205020404" pitchFamily="49" charset="0"/>
              </a:rPr>
              <a:t>@(*)</a:t>
            </a:r>
            <a:endParaRPr lang="es-MX" sz="1800" b="0" noProof="0" dirty="0">
              <a:solidFill>
                <a:srgbClr val="000000"/>
              </a:solidFill>
              <a:highlight>
                <a:srgbClr val="FFFFFF"/>
              </a:highlight>
              <a:latin typeface="Courier New" panose="02070309020205020404" pitchFamily="49" charset="0"/>
            </a:endParaRPr>
          </a:p>
          <a:p>
            <a:r>
              <a:rPr lang="es-MX" sz="1800" b="0" noProof="0" dirty="0">
                <a:solidFill>
                  <a:srgbClr val="000000"/>
                </a:solidFill>
                <a:highlight>
                  <a:srgbClr val="FFFFFF"/>
                </a:highlight>
                <a:latin typeface="Courier New" panose="02070309020205020404" pitchFamily="49" charset="0"/>
              </a:rPr>
              <a:t>	</a:t>
            </a:r>
            <a:r>
              <a:rPr lang="es-MX" sz="1800" b="1" noProof="0" dirty="0" err="1">
                <a:solidFill>
                  <a:srgbClr val="0000FF"/>
                </a:solidFill>
                <a:highlight>
                  <a:srgbClr val="FFFFFF"/>
                </a:highlight>
                <a:latin typeface="Courier New" panose="02070309020205020404" pitchFamily="49" charset="0"/>
              </a:rPr>
              <a:t>begin</a:t>
            </a:r>
            <a:r>
              <a:rPr lang="es-MX" sz="1800" b="0" noProof="0" dirty="0">
                <a:solidFill>
                  <a:srgbClr val="000000"/>
                </a:solidFill>
                <a:highlight>
                  <a:srgbClr val="FFFFFF"/>
                </a:highlight>
                <a:latin typeface="Courier New" panose="02070309020205020404" pitchFamily="49" charset="0"/>
              </a:rPr>
              <a:t> </a:t>
            </a:r>
          </a:p>
          <a:p>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FF"/>
                </a:solidFill>
                <a:highlight>
                  <a:srgbClr val="FFFFFF"/>
                </a:highlight>
                <a:latin typeface="Courier New" panose="02070309020205020404" pitchFamily="49" charset="0"/>
              </a:rPr>
              <a:t>case</a:t>
            </a:r>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80"/>
                </a:solidFill>
                <a:highlight>
                  <a:srgbClr val="FFFFFF"/>
                </a:highlight>
                <a:latin typeface="Courier New" panose="02070309020205020404" pitchFamily="49" charset="0"/>
              </a:rPr>
              <a:t>(</a:t>
            </a:r>
            <a:r>
              <a:rPr lang="es-MX" sz="1800" b="0" noProof="0" dirty="0" err="1">
                <a:solidFill>
                  <a:srgbClr val="000000"/>
                </a:solidFill>
                <a:highlight>
                  <a:srgbClr val="FFFFFF"/>
                </a:highlight>
                <a:latin typeface="Courier New" panose="02070309020205020404" pitchFamily="49" charset="0"/>
              </a:rPr>
              <a:t>select</a:t>
            </a:r>
            <a:r>
              <a:rPr lang="es-MX" sz="1800" b="1" noProof="0" dirty="0">
                <a:solidFill>
                  <a:srgbClr val="000080"/>
                </a:solidFill>
                <a:highlight>
                  <a:srgbClr val="FFFFFF"/>
                </a:highlight>
                <a:latin typeface="Courier New" panose="02070309020205020404" pitchFamily="49" charset="0"/>
              </a:rPr>
              <a:t>)</a:t>
            </a:r>
            <a:endParaRPr lang="es-MX" sz="1800" b="0" noProof="0" dirty="0">
              <a:solidFill>
                <a:srgbClr val="000000"/>
              </a:solidFill>
              <a:highlight>
                <a:srgbClr val="FFFFFF"/>
              </a:highlight>
              <a:latin typeface="Courier New" panose="02070309020205020404" pitchFamily="49" charset="0"/>
            </a:endParaRPr>
          </a:p>
          <a:p>
            <a:r>
              <a:rPr lang="es-MX" sz="1800" b="0" noProof="0" dirty="0">
                <a:solidFill>
                  <a:srgbClr val="000000"/>
                </a:solidFill>
                <a:highlight>
                  <a:srgbClr val="FFFFFF"/>
                </a:highlight>
                <a:latin typeface="Courier New" panose="02070309020205020404" pitchFamily="49" charset="0"/>
              </a:rPr>
              <a:t>	</a:t>
            </a:r>
            <a:r>
              <a:rPr lang="es-MX" sz="1800" b="0" noProof="0" dirty="0">
                <a:solidFill>
                  <a:srgbClr val="FF8000"/>
                </a:solidFill>
                <a:highlight>
                  <a:srgbClr val="FFFFFF"/>
                </a:highlight>
                <a:latin typeface="Courier New" panose="02070309020205020404" pitchFamily="49" charset="0"/>
              </a:rPr>
              <a:t>4'b0000</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000000"/>
                </a:solidFill>
                <a:highlight>
                  <a:srgbClr val="FFFFFF"/>
                </a:highlight>
                <a:latin typeface="Courier New" panose="02070309020205020404" pitchFamily="49" charset="0"/>
              </a:rPr>
              <a:t> </a:t>
            </a:r>
            <a:r>
              <a:rPr lang="es-MX" sz="1800" b="0" noProof="0" dirty="0" err="1">
                <a:solidFill>
                  <a:srgbClr val="000000"/>
                </a:solidFill>
                <a:highlight>
                  <a:srgbClr val="FFFFFF"/>
                </a:highlight>
                <a:latin typeface="Courier New" panose="02070309020205020404" pitchFamily="49" charset="0"/>
              </a:rPr>
              <a:t>out</a:t>
            </a:r>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000000"/>
                </a:solidFill>
                <a:highlight>
                  <a:srgbClr val="FFFFFF"/>
                </a:highlight>
                <a:latin typeface="Courier New" panose="02070309020205020404" pitchFamily="49" charset="0"/>
              </a:rPr>
              <a:t> </a:t>
            </a:r>
            <a:r>
              <a:rPr lang="es-MX" sz="1800" b="0" noProof="0" dirty="0" err="1">
                <a:solidFill>
                  <a:srgbClr val="000000"/>
                </a:solidFill>
                <a:highlight>
                  <a:srgbClr val="FFFFFF"/>
                </a:highlight>
                <a:latin typeface="Courier New" panose="02070309020205020404" pitchFamily="49" charset="0"/>
              </a:rPr>
              <a:t>a_in</a:t>
            </a:r>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000000"/>
                </a:solidFill>
                <a:highlight>
                  <a:srgbClr val="FFFFFF"/>
                </a:highlight>
                <a:latin typeface="Courier New" panose="02070309020205020404" pitchFamily="49" charset="0"/>
              </a:rPr>
              <a:t> </a:t>
            </a:r>
            <a:r>
              <a:rPr lang="es-MX" sz="1800" b="0" noProof="0" dirty="0" err="1">
                <a:solidFill>
                  <a:srgbClr val="000000"/>
                </a:solidFill>
                <a:highlight>
                  <a:srgbClr val="FFFFFF"/>
                </a:highlight>
                <a:latin typeface="Courier New" panose="02070309020205020404" pitchFamily="49" charset="0"/>
              </a:rPr>
              <a:t>b_in</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000000"/>
                </a:solidFill>
                <a:highlight>
                  <a:srgbClr val="FFFFFF"/>
                </a:highlight>
                <a:latin typeface="Courier New" panose="02070309020205020404" pitchFamily="49" charset="0"/>
              </a:rPr>
              <a:t>		</a:t>
            </a:r>
            <a:r>
              <a:rPr lang="es-MX" sz="1800" b="0" noProof="0" dirty="0">
                <a:solidFill>
                  <a:srgbClr val="008000"/>
                </a:solidFill>
                <a:highlight>
                  <a:srgbClr val="FFFFFF"/>
                </a:highlight>
                <a:latin typeface="Courier New" panose="02070309020205020404" pitchFamily="49" charset="0"/>
              </a:rPr>
              <a:t>//ADD (SUMA DE DOS NUMEROS)</a:t>
            </a:r>
          </a:p>
          <a:p>
            <a:r>
              <a:rPr lang="es-MX" sz="1800" b="0" noProof="0" dirty="0">
                <a:solidFill>
                  <a:srgbClr val="000000"/>
                </a:solidFill>
                <a:highlight>
                  <a:srgbClr val="FFFFFF"/>
                </a:highlight>
                <a:latin typeface="Courier New" panose="02070309020205020404" pitchFamily="49" charset="0"/>
              </a:rPr>
              <a:t>	</a:t>
            </a:r>
            <a:r>
              <a:rPr lang="es-MX" sz="1800" b="0" noProof="0" dirty="0">
                <a:solidFill>
                  <a:srgbClr val="FF8000"/>
                </a:solidFill>
                <a:highlight>
                  <a:srgbClr val="FFFFFF"/>
                </a:highlight>
                <a:latin typeface="Courier New" panose="02070309020205020404" pitchFamily="49" charset="0"/>
              </a:rPr>
              <a:t>4'b0001</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000000"/>
                </a:solidFill>
                <a:highlight>
                  <a:srgbClr val="FFFFFF"/>
                </a:highlight>
                <a:latin typeface="Courier New" panose="02070309020205020404" pitchFamily="49" charset="0"/>
              </a:rPr>
              <a:t> </a:t>
            </a:r>
            <a:r>
              <a:rPr lang="es-MX" sz="1800" b="0" noProof="0" dirty="0" err="1">
                <a:solidFill>
                  <a:srgbClr val="000000"/>
                </a:solidFill>
                <a:highlight>
                  <a:srgbClr val="FFFFFF"/>
                </a:highlight>
                <a:latin typeface="Courier New" panose="02070309020205020404" pitchFamily="49" charset="0"/>
              </a:rPr>
              <a:t>out</a:t>
            </a:r>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000000"/>
                </a:solidFill>
                <a:highlight>
                  <a:srgbClr val="FFFFFF"/>
                </a:highlight>
                <a:latin typeface="Courier New" panose="02070309020205020404" pitchFamily="49" charset="0"/>
              </a:rPr>
              <a:t> </a:t>
            </a:r>
            <a:r>
              <a:rPr lang="es-MX" sz="1800" b="0" noProof="0" dirty="0" err="1">
                <a:solidFill>
                  <a:srgbClr val="000000"/>
                </a:solidFill>
                <a:highlight>
                  <a:srgbClr val="FFFFFF"/>
                </a:highlight>
                <a:latin typeface="Courier New" panose="02070309020205020404" pitchFamily="49" charset="0"/>
              </a:rPr>
              <a:t>a_in</a:t>
            </a:r>
            <a:r>
              <a:rPr lang="es-MX" sz="1800" b="0" noProof="0" dirty="0">
                <a:solidFill>
                  <a:srgbClr val="000000"/>
                </a:solidFill>
                <a:highlight>
                  <a:srgbClr val="FFFFFF"/>
                </a:highlight>
                <a:latin typeface="Courier New" panose="02070309020205020404" pitchFamily="49" charset="0"/>
              </a:rPr>
              <a:t> </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000000"/>
                </a:solidFill>
                <a:highlight>
                  <a:srgbClr val="FFFFFF"/>
                </a:highlight>
                <a:latin typeface="Courier New" panose="02070309020205020404" pitchFamily="49" charset="0"/>
              </a:rPr>
              <a:t> </a:t>
            </a:r>
            <a:r>
              <a:rPr lang="es-MX" sz="1800" b="0" noProof="0" dirty="0" err="1">
                <a:solidFill>
                  <a:srgbClr val="000000"/>
                </a:solidFill>
                <a:highlight>
                  <a:srgbClr val="FFFFFF"/>
                </a:highlight>
                <a:latin typeface="Courier New" panose="02070309020205020404" pitchFamily="49" charset="0"/>
              </a:rPr>
              <a:t>b_in</a:t>
            </a:r>
            <a:r>
              <a:rPr lang="es-MX" sz="1800" b="1" noProof="0" dirty="0">
                <a:solidFill>
                  <a:srgbClr val="000080"/>
                </a:solidFill>
                <a:highlight>
                  <a:srgbClr val="FFFFFF"/>
                </a:highlight>
                <a:latin typeface="Courier New" panose="02070309020205020404" pitchFamily="49" charset="0"/>
              </a:rPr>
              <a:t>;</a:t>
            </a:r>
            <a:r>
              <a:rPr lang="es-MX" sz="1800" b="0" noProof="0" dirty="0">
                <a:solidFill>
                  <a:srgbClr val="000000"/>
                </a:solidFill>
                <a:highlight>
                  <a:srgbClr val="FFFFFF"/>
                </a:highlight>
                <a:latin typeface="Courier New" panose="02070309020205020404" pitchFamily="49" charset="0"/>
              </a:rPr>
              <a:t>		</a:t>
            </a:r>
            <a:r>
              <a:rPr lang="es-MX" sz="1800" b="0" noProof="0" dirty="0">
                <a:solidFill>
                  <a:srgbClr val="008000"/>
                </a:solidFill>
                <a:highlight>
                  <a:srgbClr val="FFFFFF"/>
                </a:highlight>
                <a:latin typeface="Courier New" panose="02070309020205020404" pitchFamily="49" charset="0"/>
              </a:rPr>
              <a:t>//SUBTRACT (RESTA DE DOS NUMEROS</a:t>
            </a:r>
          </a:p>
        </p:txBody>
      </p:sp>
      <p:sp>
        <p:nvSpPr>
          <p:cNvPr id="3" name="Rectángulo 2">
            <a:extLst>
              <a:ext uri="{FF2B5EF4-FFF2-40B4-BE49-F238E27FC236}">
                <a16:creationId xmlns:a16="http://schemas.microsoft.com/office/drawing/2014/main" id="{100C54EC-948E-3A99-40FB-071ACF0AE081}"/>
              </a:ext>
            </a:extLst>
          </p:cNvPr>
          <p:cNvSpPr/>
          <p:nvPr/>
        </p:nvSpPr>
        <p:spPr>
          <a:xfrm>
            <a:off x="6989790" y="368856"/>
            <a:ext cx="4326184" cy="516326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noProof="0" dirty="0"/>
          </a:p>
        </p:txBody>
      </p:sp>
      <p:sp>
        <p:nvSpPr>
          <p:cNvPr id="7" name="CuadroTexto 6">
            <a:extLst>
              <a:ext uri="{FF2B5EF4-FFF2-40B4-BE49-F238E27FC236}">
                <a16:creationId xmlns:a16="http://schemas.microsoft.com/office/drawing/2014/main" id="{CD66539F-8E19-71C9-CF96-6763D95A5FC0}"/>
              </a:ext>
            </a:extLst>
          </p:cNvPr>
          <p:cNvSpPr txBox="1"/>
          <p:nvPr/>
        </p:nvSpPr>
        <p:spPr>
          <a:xfrm>
            <a:off x="6989790" y="318044"/>
            <a:ext cx="4428022" cy="527054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15000"/>
              </a:lnSpc>
              <a:spcAft>
                <a:spcPts val="800"/>
              </a:spcAft>
              <a:buNone/>
            </a:pP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4'b0010</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a_in</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&amp;</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b_in</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00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//AND (OPERACION AND)</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4'b0011</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a_in</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b_in</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00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//OR (OPERACION OR)</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4'b0100</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a_in</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b_in</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00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//X-OR (OPERACION X-OR)</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4'b0101</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a_in</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&lt;&lt;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b_in</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00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//DESPLAZAMIENTO LOGICO A LA IZQUIERDA SLL</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4'b0110</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a_in</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&gt;&gt;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b_in</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00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//DESPLAZAMIENTO LOGICO A LA DERECHA SRL</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028463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73BF65-F15F-81D6-EF53-A40681A15794}"/>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5DBD78E5-401F-E9FE-8097-4AC028F64A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grpSp>
        <p:nvGrpSpPr>
          <p:cNvPr id="30" name="Group 29">
            <a:extLst>
              <a:ext uri="{FF2B5EF4-FFF2-40B4-BE49-F238E27FC236}">
                <a16:creationId xmlns:a16="http://schemas.microsoft.com/office/drawing/2014/main" id="{55C4845F-9ACD-29D0-AFE1-4F2B6D32DC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31" name="Straight Connector 30">
              <a:extLst>
                <a:ext uri="{FF2B5EF4-FFF2-40B4-BE49-F238E27FC236}">
                  <a16:creationId xmlns:a16="http://schemas.microsoft.com/office/drawing/2014/main" id="{6402387F-B950-33C9-22A9-B1D9E33F2F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D18583B4-CABA-B9A0-1623-6F3C8F2E08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grpSp>
      <p:sp>
        <p:nvSpPr>
          <p:cNvPr id="34" name="Rectangle 33">
            <a:extLst>
              <a:ext uri="{FF2B5EF4-FFF2-40B4-BE49-F238E27FC236}">
                <a16:creationId xmlns:a16="http://schemas.microsoft.com/office/drawing/2014/main" id="{520371A0-879F-2A68-467F-91FC7CA2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9" name="Rectángulo 8">
            <a:extLst>
              <a:ext uri="{FF2B5EF4-FFF2-40B4-BE49-F238E27FC236}">
                <a16:creationId xmlns:a16="http://schemas.microsoft.com/office/drawing/2014/main" id="{2C6D033A-E825-5A4D-37CA-DA73A5AD2BC6}"/>
              </a:ext>
            </a:extLst>
          </p:cNvPr>
          <p:cNvSpPr/>
          <p:nvPr/>
        </p:nvSpPr>
        <p:spPr>
          <a:xfrm>
            <a:off x="290513" y="318044"/>
            <a:ext cx="4326184" cy="51632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MX" noProof="0" dirty="0"/>
          </a:p>
        </p:txBody>
      </p:sp>
      <p:sp>
        <p:nvSpPr>
          <p:cNvPr id="2" name="Título 1">
            <a:extLst>
              <a:ext uri="{FF2B5EF4-FFF2-40B4-BE49-F238E27FC236}">
                <a16:creationId xmlns:a16="http://schemas.microsoft.com/office/drawing/2014/main" id="{27C7D994-8EE2-4700-B6F1-A7AA8A1B81E7}"/>
              </a:ext>
            </a:extLst>
          </p:cNvPr>
          <p:cNvSpPr>
            <a:spLocks noGrp="1"/>
          </p:cNvSpPr>
          <p:nvPr>
            <p:ph type="title"/>
          </p:nvPr>
        </p:nvSpPr>
        <p:spPr>
          <a:xfrm>
            <a:off x="767476" y="156166"/>
            <a:ext cx="10071536" cy="929750"/>
          </a:xfrm>
        </p:spPr>
        <p:txBody>
          <a:bodyPr vert="horz" lIns="91440" tIns="45720" rIns="91440" bIns="45720" rtlCol="0" anchor="b">
            <a:normAutofit/>
          </a:bodyPr>
          <a:lstStyle/>
          <a:p>
            <a:pPr algn="ctr"/>
            <a:r>
              <a:rPr lang="es-MX" sz="5200" noProof="0" dirty="0"/>
              <a:t>Código</a:t>
            </a:r>
          </a:p>
        </p:txBody>
      </p:sp>
      <p:sp>
        <p:nvSpPr>
          <p:cNvPr id="3" name="Rectángulo 2">
            <a:extLst>
              <a:ext uri="{FF2B5EF4-FFF2-40B4-BE49-F238E27FC236}">
                <a16:creationId xmlns:a16="http://schemas.microsoft.com/office/drawing/2014/main" id="{E7555658-EC3C-DF73-F888-141BA6A12889}"/>
              </a:ext>
            </a:extLst>
          </p:cNvPr>
          <p:cNvSpPr/>
          <p:nvPr/>
        </p:nvSpPr>
        <p:spPr>
          <a:xfrm>
            <a:off x="7350224" y="318044"/>
            <a:ext cx="4326184" cy="51632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MX" noProof="0" dirty="0"/>
          </a:p>
        </p:txBody>
      </p:sp>
      <p:sp>
        <p:nvSpPr>
          <p:cNvPr id="10" name="CuadroTexto 9">
            <a:extLst>
              <a:ext uri="{FF2B5EF4-FFF2-40B4-BE49-F238E27FC236}">
                <a16:creationId xmlns:a16="http://schemas.microsoft.com/office/drawing/2014/main" id="{8B1210FB-35D4-13BF-3160-AE362987387C}"/>
              </a:ext>
            </a:extLst>
          </p:cNvPr>
          <p:cNvSpPr txBox="1"/>
          <p:nvPr/>
        </p:nvSpPr>
        <p:spPr>
          <a:xfrm>
            <a:off x="446138" y="621041"/>
            <a:ext cx="4014934" cy="4311180"/>
          </a:xfrm>
          <a:prstGeom prst="rect">
            <a:avLst/>
          </a:prstGeom>
          <a:noFill/>
        </p:spPr>
        <p:txBody>
          <a:bodyPr wrap="square">
            <a:spAutoFit/>
          </a:bodyPr>
          <a:lstStyle/>
          <a:p>
            <a:pPr>
              <a:lnSpc>
                <a:spcPct val="115000"/>
              </a:lnSpc>
              <a:spcAft>
                <a:spcPts val="800"/>
              </a:spcAft>
              <a:buNone/>
            </a:pP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4'b0111</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8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err="1">
                <a:solidFill>
                  <a:srgbClr val="8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signed</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a_in</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&gt;&gt;&gt; </a:t>
            </a:r>
            <a:r>
              <a:rPr lang="es-MX" sz="1800" kern="1200" noProof="0" dirty="0">
                <a:solidFill>
                  <a:srgbClr val="8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err="1">
                <a:solidFill>
                  <a:srgbClr val="8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signed</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b_in</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00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//SLT (ES MENOR QUE)</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32'b1</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else</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4'b1000</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a_in</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b="1" kern="1200" noProof="0" dirty="0">
                <a:solidFill>
                  <a:srgbClr val="000080"/>
                </a:solidFill>
                <a:effectLs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00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8000"/>
                </a:solidFill>
                <a:effectLst/>
                <a:latin typeface="Courier New" panose="02070309020205020404" pitchFamily="49" charset="0"/>
                <a:ea typeface="Aptos" panose="020B0004020202020204" pitchFamily="34" charset="0"/>
                <a:cs typeface="Times New Roman" panose="02020603050405020304" pitchFamily="18" charset="0"/>
              </a:rPr>
              <a:t>MUESTRA ENTRADA A</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b="1" kern="1200" noProof="0" dirty="0">
                <a:solidFill>
                  <a:srgbClr val="000080"/>
                </a:solidFill>
                <a:effectLs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4'b1001</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b_in</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b="1" kern="1200" noProof="0" dirty="0">
                <a:solidFill>
                  <a:srgbClr val="000080"/>
                </a:solidFill>
                <a:effectLs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00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8000"/>
                </a:solidFill>
                <a:effectLst/>
                <a:latin typeface="Courier New" panose="02070309020205020404" pitchFamily="49" charset="0"/>
                <a:ea typeface="Aptos" panose="020B0004020202020204" pitchFamily="34" charset="0"/>
                <a:cs typeface="Times New Roman" panose="02020603050405020304" pitchFamily="18" charset="0"/>
              </a:rPr>
              <a:t>MUESTRA ENTRADA B</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2" name="CuadroTexto 11">
            <a:extLst>
              <a:ext uri="{FF2B5EF4-FFF2-40B4-BE49-F238E27FC236}">
                <a16:creationId xmlns:a16="http://schemas.microsoft.com/office/drawing/2014/main" id="{D3E69AC9-F0C9-F144-E557-20CFAA13E631}"/>
              </a:ext>
            </a:extLst>
          </p:cNvPr>
          <p:cNvSpPr txBox="1"/>
          <p:nvPr/>
        </p:nvSpPr>
        <p:spPr>
          <a:xfrm>
            <a:off x="7442356" y="588337"/>
            <a:ext cx="4531442" cy="4622676"/>
          </a:xfrm>
          <a:prstGeom prst="rect">
            <a:avLst/>
          </a:prstGeom>
          <a:noFill/>
        </p:spPr>
        <p:txBody>
          <a:bodyPr wrap="square">
            <a:spAutoFit/>
          </a:bodyPr>
          <a:lstStyle/>
          <a:p>
            <a:pPr>
              <a:lnSpc>
                <a:spcPct val="115000"/>
              </a:lnSpc>
              <a:spcAft>
                <a:spcPts val="800"/>
              </a:spcAft>
              <a:buNone/>
            </a:pP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4'b1010</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if</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a_in</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b_in</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//BEQ (ES MENOR QUE))</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32'b1</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else</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32'b0</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4'b1011</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if</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8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err="1">
                <a:solidFill>
                  <a:srgbClr val="8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signed</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a_in</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8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err="1">
                <a:solidFill>
                  <a:srgbClr val="8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signed</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B_in</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//BNE (DESIGUAL A)</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noProof="0" dirty="0">
                <a:solidFill>
                  <a:srgbClr val="000000"/>
                </a:solidFill>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32'b1</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else</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32'b0</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635047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7D4BC9-06D8-3F26-25B5-CF1635970E08}"/>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5B254E2F-C95F-69A1-D4EA-D4DD1A0DF4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grpSp>
        <p:nvGrpSpPr>
          <p:cNvPr id="30" name="Group 29">
            <a:extLst>
              <a:ext uri="{FF2B5EF4-FFF2-40B4-BE49-F238E27FC236}">
                <a16:creationId xmlns:a16="http://schemas.microsoft.com/office/drawing/2014/main" id="{45CF0158-256F-F0AA-6F16-C23B8063D0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31" name="Straight Connector 30">
              <a:extLst>
                <a:ext uri="{FF2B5EF4-FFF2-40B4-BE49-F238E27FC236}">
                  <a16:creationId xmlns:a16="http://schemas.microsoft.com/office/drawing/2014/main" id="{8D80C3F6-19C9-CFB4-6BD8-2C8F63508C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D9E6B30D-3932-776B-2DB4-54B3AF3E8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grpSp>
      <p:sp>
        <p:nvSpPr>
          <p:cNvPr id="34" name="Rectangle 33">
            <a:extLst>
              <a:ext uri="{FF2B5EF4-FFF2-40B4-BE49-F238E27FC236}">
                <a16:creationId xmlns:a16="http://schemas.microsoft.com/office/drawing/2014/main" id="{5503504B-069B-80CC-9824-1B37E28F1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9" name="Rectángulo 8">
            <a:extLst>
              <a:ext uri="{FF2B5EF4-FFF2-40B4-BE49-F238E27FC236}">
                <a16:creationId xmlns:a16="http://schemas.microsoft.com/office/drawing/2014/main" id="{543F5422-936B-393C-557A-4B6397E960F9}"/>
              </a:ext>
            </a:extLst>
          </p:cNvPr>
          <p:cNvSpPr/>
          <p:nvPr/>
        </p:nvSpPr>
        <p:spPr>
          <a:xfrm>
            <a:off x="290513" y="318044"/>
            <a:ext cx="4326184" cy="51632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MX" noProof="0" dirty="0"/>
          </a:p>
        </p:txBody>
      </p:sp>
      <p:sp>
        <p:nvSpPr>
          <p:cNvPr id="2" name="Título 1">
            <a:extLst>
              <a:ext uri="{FF2B5EF4-FFF2-40B4-BE49-F238E27FC236}">
                <a16:creationId xmlns:a16="http://schemas.microsoft.com/office/drawing/2014/main" id="{5F3E485B-A679-355B-8C6E-8FE04426A5CE}"/>
              </a:ext>
            </a:extLst>
          </p:cNvPr>
          <p:cNvSpPr>
            <a:spLocks noGrp="1"/>
          </p:cNvSpPr>
          <p:nvPr>
            <p:ph type="title"/>
          </p:nvPr>
        </p:nvSpPr>
        <p:spPr>
          <a:xfrm>
            <a:off x="767476" y="156166"/>
            <a:ext cx="10071536" cy="929750"/>
          </a:xfrm>
        </p:spPr>
        <p:txBody>
          <a:bodyPr vert="horz" lIns="91440" tIns="45720" rIns="91440" bIns="45720" rtlCol="0" anchor="b">
            <a:normAutofit/>
          </a:bodyPr>
          <a:lstStyle/>
          <a:p>
            <a:pPr algn="ctr"/>
            <a:r>
              <a:rPr lang="es-MX" sz="5200" noProof="0" dirty="0"/>
              <a:t>Código</a:t>
            </a:r>
          </a:p>
        </p:txBody>
      </p:sp>
      <p:sp>
        <p:nvSpPr>
          <p:cNvPr id="3" name="Rectángulo 2">
            <a:extLst>
              <a:ext uri="{FF2B5EF4-FFF2-40B4-BE49-F238E27FC236}">
                <a16:creationId xmlns:a16="http://schemas.microsoft.com/office/drawing/2014/main" id="{44B7B260-6773-7B7B-E90D-7F70AF39164F}"/>
              </a:ext>
            </a:extLst>
          </p:cNvPr>
          <p:cNvSpPr/>
          <p:nvPr/>
        </p:nvSpPr>
        <p:spPr>
          <a:xfrm>
            <a:off x="7350224" y="318044"/>
            <a:ext cx="4326184" cy="51632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MX" noProof="0" dirty="0"/>
          </a:p>
        </p:txBody>
      </p:sp>
      <p:sp>
        <p:nvSpPr>
          <p:cNvPr id="5" name="CuadroTexto 4">
            <a:extLst>
              <a:ext uri="{FF2B5EF4-FFF2-40B4-BE49-F238E27FC236}">
                <a16:creationId xmlns:a16="http://schemas.microsoft.com/office/drawing/2014/main" id="{99A871EC-0409-5A7C-4290-CE71CDDA3435}"/>
              </a:ext>
            </a:extLst>
          </p:cNvPr>
          <p:cNvSpPr txBox="1"/>
          <p:nvPr/>
        </p:nvSpPr>
        <p:spPr>
          <a:xfrm>
            <a:off x="290513" y="437489"/>
            <a:ext cx="4338340" cy="5043817"/>
          </a:xfrm>
          <a:prstGeom prst="rect">
            <a:avLst/>
          </a:prstGeom>
          <a:noFill/>
        </p:spPr>
        <p:txBody>
          <a:bodyPr wrap="square">
            <a:spAutoFit/>
          </a:bodyPr>
          <a:lstStyle/>
          <a:p>
            <a:pPr>
              <a:lnSpc>
                <a:spcPct val="115000"/>
              </a:lnSpc>
              <a:spcAft>
                <a:spcPts val="800"/>
              </a:spcAft>
              <a:buNone/>
            </a:pP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4'b1100</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b="1" kern="1200" noProof="0" dirty="0">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if</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8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err="1">
                <a:solidFill>
                  <a:srgbClr val="8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signed</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a_in</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&lt;&lt; </a:t>
            </a:r>
            <a:r>
              <a:rPr lang="es-MX" sz="1800" kern="1200" noProof="0" dirty="0">
                <a:solidFill>
                  <a:srgbClr val="8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err="1">
                <a:solidFill>
                  <a:srgbClr val="8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signed</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B_in</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//SLT (ES MENOR QUE)</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32'b1</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else</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32'b0</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4'b1101</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if</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a_in</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&gt;&gt;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b_in</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//BLTU (MENOR QUE SIN SIGNO)</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32'b1</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else</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32'b0</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E4CBAA4D-B2D3-CCFF-C746-C1D28454F8C4}"/>
              </a:ext>
            </a:extLst>
          </p:cNvPr>
          <p:cNvSpPr txBox="1"/>
          <p:nvPr/>
        </p:nvSpPr>
        <p:spPr>
          <a:xfrm>
            <a:off x="7338068" y="621041"/>
            <a:ext cx="4044363" cy="4088170"/>
          </a:xfrm>
          <a:prstGeom prst="rect">
            <a:avLst/>
          </a:prstGeom>
          <a:noFill/>
        </p:spPr>
        <p:txBody>
          <a:bodyPr wrap="square">
            <a:spAutoFit/>
          </a:bodyPr>
          <a:lstStyle/>
          <a:p>
            <a:pPr>
              <a:lnSpc>
                <a:spcPct val="115000"/>
              </a:lnSpc>
              <a:spcAft>
                <a:spcPts val="800"/>
              </a:spcAft>
              <a:buNone/>
            </a:pPr>
            <a:r>
              <a:rPr lang="es-MX" sz="1800" b="1" kern="1200" noProof="0" dirty="0">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default</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32'b0</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endcase</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begin</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if</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out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32’b0</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b="1" noProof="0" dirty="0">
                <a:solidFill>
                  <a:srgbClr val="000000"/>
                </a:solidFill>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00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//BANDERA DE 0</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flagZ</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1'b1</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else</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b="1" kern="1200" noProof="0" dirty="0">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flagZ</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1'b0</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end</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78637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53B494-0365-749B-1DF5-D4CDFF596ED1}"/>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5A0889B-1435-F155-101D-2DDBCECC3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grpSp>
        <p:nvGrpSpPr>
          <p:cNvPr id="30" name="Group 29">
            <a:extLst>
              <a:ext uri="{FF2B5EF4-FFF2-40B4-BE49-F238E27FC236}">
                <a16:creationId xmlns:a16="http://schemas.microsoft.com/office/drawing/2014/main" id="{9F425512-1949-C49D-E630-EED4916899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31" name="Straight Connector 30">
              <a:extLst>
                <a:ext uri="{FF2B5EF4-FFF2-40B4-BE49-F238E27FC236}">
                  <a16:creationId xmlns:a16="http://schemas.microsoft.com/office/drawing/2014/main" id="{1FA7ED9F-7223-EDD5-D73E-1C283EB1E4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BA77E4C0-461B-540D-0247-18E10F68B0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grpSp>
      <p:sp>
        <p:nvSpPr>
          <p:cNvPr id="34" name="Rectangle 33">
            <a:extLst>
              <a:ext uri="{FF2B5EF4-FFF2-40B4-BE49-F238E27FC236}">
                <a16:creationId xmlns:a16="http://schemas.microsoft.com/office/drawing/2014/main" id="{4C4E1E71-780F-8B68-54F8-6CF3B47FB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9" name="Rectángulo 8">
            <a:extLst>
              <a:ext uri="{FF2B5EF4-FFF2-40B4-BE49-F238E27FC236}">
                <a16:creationId xmlns:a16="http://schemas.microsoft.com/office/drawing/2014/main" id="{65B679C5-1793-C6B5-6B5C-D29680E27F74}"/>
              </a:ext>
            </a:extLst>
          </p:cNvPr>
          <p:cNvSpPr/>
          <p:nvPr/>
        </p:nvSpPr>
        <p:spPr>
          <a:xfrm>
            <a:off x="1586686" y="368857"/>
            <a:ext cx="6421688" cy="51632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MX" noProof="0" dirty="0"/>
          </a:p>
        </p:txBody>
      </p:sp>
      <p:sp>
        <p:nvSpPr>
          <p:cNvPr id="2" name="Título 1">
            <a:extLst>
              <a:ext uri="{FF2B5EF4-FFF2-40B4-BE49-F238E27FC236}">
                <a16:creationId xmlns:a16="http://schemas.microsoft.com/office/drawing/2014/main" id="{224CA0A9-3BF4-EA5B-687B-EDB448B75572}"/>
              </a:ext>
            </a:extLst>
          </p:cNvPr>
          <p:cNvSpPr>
            <a:spLocks noGrp="1"/>
          </p:cNvSpPr>
          <p:nvPr>
            <p:ph type="title"/>
          </p:nvPr>
        </p:nvSpPr>
        <p:spPr>
          <a:xfrm>
            <a:off x="4934804" y="2301183"/>
            <a:ext cx="10071536" cy="929750"/>
          </a:xfrm>
        </p:spPr>
        <p:txBody>
          <a:bodyPr vert="horz" lIns="91440" tIns="45720" rIns="91440" bIns="45720" rtlCol="0" anchor="b">
            <a:normAutofit/>
          </a:bodyPr>
          <a:lstStyle/>
          <a:p>
            <a:pPr algn="ctr"/>
            <a:r>
              <a:rPr lang="es-MX" sz="5200" noProof="0" dirty="0"/>
              <a:t>Código</a:t>
            </a:r>
          </a:p>
        </p:txBody>
      </p:sp>
      <p:sp>
        <p:nvSpPr>
          <p:cNvPr id="6" name="CuadroTexto 5">
            <a:extLst>
              <a:ext uri="{FF2B5EF4-FFF2-40B4-BE49-F238E27FC236}">
                <a16:creationId xmlns:a16="http://schemas.microsoft.com/office/drawing/2014/main" id="{7818912C-CA53-6843-E065-172E4B985641}"/>
              </a:ext>
            </a:extLst>
          </p:cNvPr>
          <p:cNvSpPr txBox="1"/>
          <p:nvPr/>
        </p:nvSpPr>
        <p:spPr>
          <a:xfrm>
            <a:off x="1930809" y="546600"/>
            <a:ext cx="6077565" cy="4611904"/>
          </a:xfrm>
          <a:prstGeom prst="rect">
            <a:avLst/>
          </a:prstGeom>
          <a:noFill/>
        </p:spPr>
        <p:txBody>
          <a:bodyPr wrap="square">
            <a:spAutoFit/>
          </a:bodyPr>
          <a:lstStyle/>
          <a:p>
            <a:pPr>
              <a:lnSpc>
                <a:spcPct val="115000"/>
              </a:lnSpc>
              <a:spcAft>
                <a:spcPts val="800"/>
              </a:spcAft>
              <a:buNone/>
            </a:pP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begin</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flagt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a_in</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b_in</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end</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begin</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if</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flagt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&gt;=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32'b1</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flagC</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1'b1</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else</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err="1">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flagC</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kern="1200" noProof="0" dirty="0">
                <a:solidFill>
                  <a:srgbClr val="FF8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1'b0</a:t>
            </a:r>
            <a:r>
              <a:rPr lang="es-MX" sz="1800" b="1" kern="1200" noProof="0" dirty="0">
                <a:solidFill>
                  <a:srgbClr val="00008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end</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kern="1200" noProof="0" dirty="0">
                <a:solidFill>
                  <a:srgbClr val="000000"/>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	</a:t>
            </a: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end</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MX" sz="1800" b="1" kern="1200" noProof="0" dirty="0" err="1">
                <a:solidFill>
                  <a:srgbClr val="0000FF"/>
                </a:solidFill>
                <a:effectLst/>
                <a:highlight>
                  <a:srgbClr val="FFFFFF"/>
                </a:highlight>
                <a:latin typeface="Courier New" panose="02070309020205020404" pitchFamily="49" charset="0"/>
                <a:ea typeface="Aptos" panose="020B0004020202020204" pitchFamily="34" charset="0"/>
                <a:cs typeface="Times New Roman" panose="02020603050405020304" pitchFamily="18" charset="0"/>
              </a:rPr>
              <a:t>endmodule</a:t>
            </a:r>
            <a:endParaRPr lang="es-MX" sz="1200" kern="100" noProof="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023180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MX" noProof="0" dirty="0"/>
          </a:p>
        </p:txBody>
      </p:sp>
      <p:sp>
        <p:nvSpPr>
          <p:cNvPr id="2" name="Título 1">
            <a:extLst>
              <a:ext uri="{FF2B5EF4-FFF2-40B4-BE49-F238E27FC236}">
                <a16:creationId xmlns:a16="http://schemas.microsoft.com/office/drawing/2014/main" id="{4488AEA0-F6A6-5F9D-727C-1DD80121BF07}"/>
              </a:ext>
            </a:extLst>
          </p:cNvPr>
          <p:cNvSpPr>
            <a:spLocks noGrp="1"/>
          </p:cNvSpPr>
          <p:nvPr>
            <p:ph type="title"/>
          </p:nvPr>
        </p:nvSpPr>
        <p:spPr>
          <a:xfrm>
            <a:off x="1137036" y="548640"/>
            <a:ext cx="9543405" cy="1188720"/>
          </a:xfrm>
        </p:spPr>
        <p:txBody>
          <a:bodyPr>
            <a:normAutofit/>
          </a:bodyPr>
          <a:lstStyle/>
          <a:p>
            <a:r>
              <a:rPr lang="es-MX" noProof="0" dirty="0">
                <a:solidFill>
                  <a:schemeClr val="tx1">
                    <a:lumMod val="85000"/>
                    <a:lumOff val="15000"/>
                  </a:schemeClr>
                </a:solidFill>
              </a:rPr>
              <a:t>Explicación	</a:t>
            </a:r>
          </a:p>
        </p:txBody>
      </p:sp>
      <p:sp>
        <p:nvSpPr>
          <p:cNvPr id="3" name="Marcador de contenido 2">
            <a:extLst>
              <a:ext uri="{FF2B5EF4-FFF2-40B4-BE49-F238E27FC236}">
                <a16:creationId xmlns:a16="http://schemas.microsoft.com/office/drawing/2014/main" id="{F78957A4-EE36-EF24-4C67-E66FD70776DF}"/>
              </a:ext>
            </a:extLst>
          </p:cNvPr>
          <p:cNvSpPr>
            <a:spLocks noGrp="1"/>
          </p:cNvSpPr>
          <p:nvPr>
            <p:ph idx="1"/>
          </p:nvPr>
        </p:nvSpPr>
        <p:spPr>
          <a:xfrm>
            <a:off x="1548581" y="2285997"/>
            <a:ext cx="8685432" cy="3465800"/>
          </a:xfrm>
        </p:spPr>
        <p:txBody>
          <a:bodyPr anchor="ctr">
            <a:normAutofit/>
          </a:bodyPr>
          <a:lstStyle/>
          <a:p>
            <a:pPr algn="just"/>
            <a:r>
              <a:rPr lang="es-MX" sz="2400" noProof="0" dirty="0">
                <a:solidFill>
                  <a:schemeClr val="tx1">
                    <a:lumMod val="85000"/>
                    <a:lumOff val="15000"/>
                  </a:schemeClr>
                </a:solidFill>
              </a:rPr>
              <a:t>Se utiliza el case que evaluara nuestros bits de selección para así realizar la operación necesaria.</a:t>
            </a:r>
          </a:p>
          <a:p>
            <a:pPr algn="just"/>
            <a:r>
              <a:rPr lang="es-MX" sz="2400" noProof="0" dirty="0">
                <a:solidFill>
                  <a:schemeClr val="tx1">
                    <a:lumMod val="85000"/>
                    <a:lumOff val="15000"/>
                  </a:schemeClr>
                </a:solidFill>
              </a:rPr>
              <a:t>Aquí es donde entra la arquitectura RISC-V que es la que le da valor a cada uno de los bits, en otras palabras, cada combinación ya tiene por predeterminado una operación.</a:t>
            </a:r>
          </a:p>
          <a:p>
            <a:pPr algn="just"/>
            <a:r>
              <a:rPr lang="es-MX" sz="2400" noProof="0" dirty="0">
                <a:solidFill>
                  <a:schemeClr val="tx1">
                    <a:lumMod val="85000"/>
                    <a:lumOff val="15000"/>
                  </a:schemeClr>
                </a:solidFill>
              </a:rPr>
              <a:t>Cada operador tiene su propia acción entre bits.</a:t>
            </a:r>
          </a:p>
          <a:p>
            <a:pPr algn="just"/>
            <a:r>
              <a:rPr lang="es-MX" sz="2400" noProof="0" dirty="0">
                <a:solidFill>
                  <a:schemeClr val="tx1">
                    <a:lumMod val="85000"/>
                    <a:lumOff val="15000"/>
                  </a:schemeClr>
                </a:solidFill>
              </a:rPr>
              <a:t>Hay operaciones que requieren del signo como son las ultimas que se manejan, es importante que se tome esto en cuenta.</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Tree>
    <p:extLst>
      <p:ext uri="{BB962C8B-B14F-4D97-AF65-F5344CB8AC3E}">
        <p14:creationId xmlns:p14="http://schemas.microsoft.com/office/powerpoint/2010/main" val="65371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FCD1C6-9389-402E-C251-4AAEDAF6CC9D}"/>
              </a:ext>
            </a:extLst>
          </p:cNvPr>
          <p:cNvSpPr>
            <a:spLocks noGrp="1"/>
          </p:cNvSpPr>
          <p:nvPr>
            <p:ph type="title"/>
          </p:nvPr>
        </p:nvSpPr>
        <p:spPr>
          <a:xfrm>
            <a:off x="734961" y="350376"/>
            <a:ext cx="10515600" cy="1325563"/>
          </a:xfrm>
        </p:spPr>
        <p:txBody>
          <a:bodyPr/>
          <a:lstStyle/>
          <a:p>
            <a:r>
              <a:rPr lang="es-MX" noProof="0" dirty="0"/>
              <a:t>RISC-V en la ALU</a:t>
            </a:r>
          </a:p>
        </p:txBody>
      </p:sp>
      <p:sp>
        <p:nvSpPr>
          <p:cNvPr id="3" name="Marcador de contenido 2">
            <a:extLst>
              <a:ext uri="{FF2B5EF4-FFF2-40B4-BE49-F238E27FC236}">
                <a16:creationId xmlns:a16="http://schemas.microsoft.com/office/drawing/2014/main" id="{182E865A-C3EB-8609-B7A3-466FCED1D50D}"/>
              </a:ext>
            </a:extLst>
          </p:cNvPr>
          <p:cNvSpPr>
            <a:spLocks noGrp="1"/>
          </p:cNvSpPr>
          <p:nvPr>
            <p:ph idx="1"/>
          </p:nvPr>
        </p:nvSpPr>
        <p:spPr>
          <a:xfrm>
            <a:off x="734961" y="1383173"/>
            <a:ext cx="10515600" cy="2348169"/>
          </a:xfrm>
        </p:spPr>
        <p:txBody>
          <a:bodyPr>
            <a:normAutofit lnSpcReduction="10000"/>
          </a:bodyPr>
          <a:lstStyle/>
          <a:p>
            <a:pPr marL="0" indent="0" algn="just">
              <a:buNone/>
            </a:pPr>
            <a:r>
              <a:rPr lang="es-MX" noProof="0" dirty="0"/>
              <a:t>Como se menciono, se siguió el estándar que sigue la arquitectura RISC-V. Como se muestra en la siguiente tabla, existen 3 bits que son los selectores; posterior cuenta con la nomenclatura “rs1” o “rs2”, son los registros que se ocuparan para las operaciones, con el “</a:t>
            </a:r>
            <a:r>
              <a:rPr lang="es-MX" noProof="0" dirty="0" err="1"/>
              <a:t>rd</a:t>
            </a:r>
            <a:r>
              <a:rPr lang="es-MX" noProof="0" dirty="0"/>
              <a:t>” que es el registro de dirección, la parte de “</a:t>
            </a:r>
            <a:r>
              <a:rPr lang="es-MX" noProof="0" dirty="0" err="1"/>
              <a:t>opcode</a:t>
            </a:r>
            <a:r>
              <a:rPr lang="es-MX" noProof="0" dirty="0"/>
              <a:t>” que igual sirve para identificar la opción a realizar.</a:t>
            </a:r>
          </a:p>
        </p:txBody>
      </p:sp>
      <p:grpSp>
        <p:nvGrpSpPr>
          <p:cNvPr id="8" name="Grupo 7">
            <a:extLst>
              <a:ext uri="{FF2B5EF4-FFF2-40B4-BE49-F238E27FC236}">
                <a16:creationId xmlns:a16="http://schemas.microsoft.com/office/drawing/2014/main" id="{C9C3BADB-79A9-B2C3-982B-750935DC6CFD}"/>
              </a:ext>
            </a:extLst>
          </p:cNvPr>
          <p:cNvGrpSpPr/>
          <p:nvPr/>
        </p:nvGrpSpPr>
        <p:grpSpPr>
          <a:xfrm>
            <a:off x="2294097" y="3731342"/>
            <a:ext cx="7397328" cy="2547555"/>
            <a:chOff x="2345716" y="3961655"/>
            <a:chExt cx="7397328" cy="2547555"/>
          </a:xfrm>
        </p:grpSpPr>
        <p:pic>
          <p:nvPicPr>
            <p:cNvPr id="5" name="Imagen 4">
              <a:extLst>
                <a:ext uri="{FF2B5EF4-FFF2-40B4-BE49-F238E27FC236}">
                  <a16:creationId xmlns:a16="http://schemas.microsoft.com/office/drawing/2014/main" id="{FC7A930C-F603-4B07-FDF8-7178965BF1AF}"/>
                </a:ext>
              </a:extLst>
            </p:cNvPr>
            <p:cNvPicPr>
              <a:picLocks noChangeAspect="1"/>
            </p:cNvPicPr>
            <p:nvPr/>
          </p:nvPicPr>
          <p:blipFill>
            <a:blip r:embed="rId2"/>
            <a:stretch>
              <a:fillRect/>
            </a:stretch>
          </p:blipFill>
          <p:spPr>
            <a:xfrm>
              <a:off x="2448955" y="4177376"/>
              <a:ext cx="7294089" cy="2331834"/>
            </a:xfrm>
            <a:prstGeom prst="rect">
              <a:avLst/>
            </a:prstGeom>
          </p:spPr>
        </p:pic>
        <p:pic>
          <p:nvPicPr>
            <p:cNvPr id="7" name="Imagen 6">
              <a:extLst>
                <a:ext uri="{FF2B5EF4-FFF2-40B4-BE49-F238E27FC236}">
                  <a16:creationId xmlns:a16="http://schemas.microsoft.com/office/drawing/2014/main" id="{D8FBB403-85F7-6CFD-6423-AA2CD53C6BBF}"/>
                </a:ext>
              </a:extLst>
            </p:cNvPr>
            <p:cNvPicPr>
              <a:picLocks noChangeAspect="1"/>
            </p:cNvPicPr>
            <p:nvPr/>
          </p:nvPicPr>
          <p:blipFill>
            <a:blip r:embed="rId3"/>
            <a:stretch>
              <a:fillRect/>
            </a:stretch>
          </p:blipFill>
          <p:spPr>
            <a:xfrm>
              <a:off x="2345716" y="3961655"/>
              <a:ext cx="7294089" cy="215721"/>
            </a:xfrm>
            <a:prstGeom prst="rect">
              <a:avLst/>
            </a:prstGeom>
          </p:spPr>
        </p:pic>
      </p:grpSp>
    </p:spTree>
    <p:extLst>
      <p:ext uri="{BB962C8B-B14F-4D97-AF65-F5344CB8AC3E}">
        <p14:creationId xmlns:p14="http://schemas.microsoft.com/office/powerpoint/2010/main" val="2827077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5A1651-65E9-69BF-5BB5-E19FAD66327F}"/>
              </a:ext>
            </a:extLst>
          </p:cNvPr>
          <p:cNvSpPr>
            <a:spLocks noGrp="1"/>
          </p:cNvSpPr>
          <p:nvPr>
            <p:ph type="title"/>
          </p:nvPr>
        </p:nvSpPr>
        <p:spPr/>
        <p:txBody>
          <a:bodyPr/>
          <a:lstStyle/>
          <a:p>
            <a:r>
              <a:rPr lang="es-MX" noProof="0" dirty="0"/>
              <a:t>Banderas de </a:t>
            </a:r>
            <a:r>
              <a:rPr lang="es-MX" noProof="0" dirty="0" err="1"/>
              <a:t>Carry</a:t>
            </a:r>
            <a:r>
              <a:rPr lang="es-MX" noProof="0" dirty="0"/>
              <a:t> y de Zero</a:t>
            </a:r>
          </a:p>
        </p:txBody>
      </p:sp>
      <p:sp>
        <p:nvSpPr>
          <p:cNvPr id="3" name="Marcador de contenido 2">
            <a:extLst>
              <a:ext uri="{FF2B5EF4-FFF2-40B4-BE49-F238E27FC236}">
                <a16:creationId xmlns:a16="http://schemas.microsoft.com/office/drawing/2014/main" id="{8BB8967D-C155-C77D-1032-E62B22AB6387}"/>
              </a:ext>
            </a:extLst>
          </p:cNvPr>
          <p:cNvSpPr>
            <a:spLocks noGrp="1"/>
          </p:cNvSpPr>
          <p:nvPr>
            <p:ph idx="1"/>
          </p:nvPr>
        </p:nvSpPr>
        <p:spPr>
          <a:xfrm>
            <a:off x="838200" y="1825625"/>
            <a:ext cx="5990303" cy="3660775"/>
          </a:xfrm>
        </p:spPr>
        <p:txBody>
          <a:bodyPr>
            <a:normAutofit fontScale="92500" lnSpcReduction="20000"/>
          </a:bodyPr>
          <a:lstStyle/>
          <a:p>
            <a:pPr marL="0" indent="0" algn="just">
              <a:buNone/>
            </a:pPr>
            <a:r>
              <a:rPr lang="es-MX" noProof="0" dirty="0"/>
              <a:t>Para la realización de estas banderas se pensó de la siguiente forma:</a:t>
            </a:r>
          </a:p>
          <a:p>
            <a:pPr marL="0" indent="0" algn="just">
              <a:buNone/>
            </a:pPr>
            <a:r>
              <a:rPr lang="es-MX" b="1" noProof="0" dirty="0"/>
              <a:t>Bandera Zero: </a:t>
            </a:r>
            <a:r>
              <a:rPr lang="es-MX" noProof="0" dirty="0"/>
              <a:t>Esta bandera detecta si el resultado de cualquier operación fue 0, para esto simplemente se agrega una condicional que evalué si nuestra salida proporcionada tiene 0, si es así, se activara esta bandera. Es importante añadir esta bandera ya que es la que funcionara con otras instrucciones como los Branch.</a:t>
            </a:r>
          </a:p>
        </p:txBody>
      </p:sp>
      <p:sp>
        <p:nvSpPr>
          <p:cNvPr id="4" name="Elipse 3">
            <a:extLst>
              <a:ext uri="{FF2B5EF4-FFF2-40B4-BE49-F238E27FC236}">
                <a16:creationId xmlns:a16="http://schemas.microsoft.com/office/drawing/2014/main" id="{35AF9D96-93F8-C9F6-EA76-2C1C23D4A335}"/>
              </a:ext>
            </a:extLst>
          </p:cNvPr>
          <p:cNvSpPr/>
          <p:nvPr/>
        </p:nvSpPr>
        <p:spPr>
          <a:xfrm>
            <a:off x="8672052" y="643552"/>
            <a:ext cx="2050025" cy="104713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MX" noProof="0" dirty="0"/>
              <a:t>Bandera Z</a:t>
            </a:r>
          </a:p>
        </p:txBody>
      </p:sp>
      <p:sp>
        <p:nvSpPr>
          <p:cNvPr id="5" name="Diagrama de flujo: decisión 4">
            <a:extLst>
              <a:ext uri="{FF2B5EF4-FFF2-40B4-BE49-F238E27FC236}">
                <a16:creationId xmlns:a16="http://schemas.microsoft.com/office/drawing/2014/main" id="{AC6F8D9C-531D-2CBA-17D8-854843E86B79}"/>
              </a:ext>
            </a:extLst>
          </p:cNvPr>
          <p:cNvSpPr/>
          <p:nvPr/>
        </p:nvSpPr>
        <p:spPr>
          <a:xfrm>
            <a:off x="8672052" y="2256503"/>
            <a:ext cx="2050025" cy="1172497"/>
          </a:xfrm>
          <a:prstGeom prst="flowChartDecisio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MX" noProof="0" dirty="0"/>
              <a:t>OUT = 0</a:t>
            </a:r>
          </a:p>
        </p:txBody>
      </p:sp>
      <p:cxnSp>
        <p:nvCxnSpPr>
          <p:cNvPr id="7" name="Conector recto 6">
            <a:extLst>
              <a:ext uri="{FF2B5EF4-FFF2-40B4-BE49-F238E27FC236}">
                <a16:creationId xmlns:a16="http://schemas.microsoft.com/office/drawing/2014/main" id="{7F6F5FFC-EEB1-E6D8-39F4-9D1C8DE025B4}"/>
              </a:ext>
            </a:extLst>
          </p:cNvPr>
          <p:cNvCxnSpPr>
            <a:stCxn id="4" idx="4"/>
            <a:endCxn id="5" idx="0"/>
          </p:cNvCxnSpPr>
          <p:nvPr/>
        </p:nvCxnSpPr>
        <p:spPr>
          <a:xfrm>
            <a:off x="9697065" y="1690688"/>
            <a:ext cx="0" cy="565815"/>
          </a:xfrm>
          <a:prstGeom prst="line">
            <a:avLst/>
          </a:prstGeom>
        </p:spPr>
        <p:style>
          <a:lnRef idx="3">
            <a:schemeClr val="dk1"/>
          </a:lnRef>
          <a:fillRef idx="0">
            <a:schemeClr val="dk1"/>
          </a:fillRef>
          <a:effectRef idx="2">
            <a:schemeClr val="dk1"/>
          </a:effectRef>
          <a:fontRef idx="minor">
            <a:schemeClr val="tx1"/>
          </a:fontRef>
        </p:style>
      </p:cxnSp>
      <p:sp>
        <p:nvSpPr>
          <p:cNvPr id="8" name="Diagrama de flujo: proceso 7">
            <a:extLst>
              <a:ext uri="{FF2B5EF4-FFF2-40B4-BE49-F238E27FC236}">
                <a16:creationId xmlns:a16="http://schemas.microsoft.com/office/drawing/2014/main" id="{AB158916-8DF1-9D92-75E0-B8D7D0731802}"/>
              </a:ext>
            </a:extLst>
          </p:cNvPr>
          <p:cNvSpPr/>
          <p:nvPr/>
        </p:nvSpPr>
        <p:spPr>
          <a:xfrm>
            <a:off x="6990736" y="3859943"/>
            <a:ext cx="1799304" cy="1172497"/>
          </a:xfrm>
          <a:prstGeom prst="flowChartProces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s-MX" noProof="0" dirty="0"/>
              <a:t>Enciende led</a:t>
            </a:r>
          </a:p>
        </p:txBody>
      </p:sp>
      <p:sp>
        <p:nvSpPr>
          <p:cNvPr id="9" name="Diagrama de flujo: proceso 8">
            <a:extLst>
              <a:ext uri="{FF2B5EF4-FFF2-40B4-BE49-F238E27FC236}">
                <a16:creationId xmlns:a16="http://schemas.microsoft.com/office/drawing/2014/main" id="{84EBE715-1D20-6F54-8C11-4BECA7CB8191}"/>
              </a:ext>
            </a:extLst>
          </p:cNvPr>
          <p:cNvSpPr/>
          <p:nvPr/>
        </p:nvSpPr>
        <p:spPr>
          <a:xfrm>
            <a:off x="10392696" y="3747742"/>
            <a:ext cx="1799304" cy="1172497"/>
          </a:xfrm>
          <a:prstGeom prst="flowChartProcess">
            <a:avLst/>
          </a:prstGeom>
          <a:solidFill>
            <a:srgbClr val="C4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noProof="0" dirty="0"/>
              <a:t>Apaga led</a:t>
            </a:r>
          </a:p>
        </p:txBody>
      </p:sp>
      <p:grpSp>
        <p:nvGrpSpPr>
          <p:cNvPr id="12" name="Grupo 11">
            <a:extLst>
              <a:ext uri="{FF2B5EF4-FFF2-40B4-BE49-F238E27FC236}">
                <a16:creationId xmlns:a16="http://schemas.microsoft.com/office/drawing/2014/main" id="{034553E4-7E2A-5C9C-7FFF-394192FEBDE4}"/>
              </a:ext>
            </a:extLst>
          </p:cNvPr>
          <p:cNvGrpSpPr/>
          <p:nvPr/>
        </p:nvGrpSpPr>
        <p:grpSpPr>
          <a:xfrm>
            <a:off x="7346489" y="2287309"/>
            <a:ext cx="1326459" cy="1506266"/>
            <a:chOff x="7346489" y="2287309"/>
            <a:chExt cx="1326459" cy="1506266"/>
          </a:xfrm>
        </p:grpSpPr>
        <p:sp>
          <p:nvSpPr>
            <p:cNvPr id="10" name="Flecha: doblada 9">
              <a:extLst>
                <a:ext uri="{FF2B5EF4-FFF2-40B4-BE49-F238E27FC236}">
                  <a16:creationId xmlns:a16="http://schemas.microsoft.com/office/drawing/2014/main" id="{79985FF0-0D1E-1DC5-6866-3F38A923995B}"/>
                </a:ext>
              </a:extLst>
            </p:cNvPr>
            <p:cNvSpPr/>
            <p:nvPr/>
          </p:nvSpPr>
          <p:spPr>
            <a:xfrm rot="16200000" flipH="1">
              <a:off x="7456206" y="2577729"/>
              <a:ext cx="1106129" cy="1325563"/>
            </a:xfrm>
            <a:prstGeom prst="ben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MX" noProof="0" dirty="0">
                <a:solidFill>
                  <a:schemeClr val="tx1"/>
                </a:solidFill>
              </a:endParaRPr>
            </a:p>
          </p:txBody>
        </p:sp>
        <p:sp>
          <p:nvSpPr>
            <p:cNvPr id="11" name="CuadroTexto 10">
              <a:extLst>
                <a:ext uri="{FF2B5EF4-FFF2-40B4-BE49-F238E27FC236}">
                  <a16:creationId xmlns:a16="http://schemas.microsoft.com/office/drawing/2014/main" id="{D41F30A3-AF88-2CB4-DBF3-1501B51CE12E}"/>
                </a:ext>
              </a:extLst>
            </p:cNvPr>
            <p:cNvSpPr txBox="1"/>
            <p:nvPr/>
          </p:nvSpPr>
          <p:spPr>
            <a:xfrm>
              <a:off x="8009270" y="2287309"/>
              <a:ext cx="663678" cy="369332"/>
            </a:xfrm>
            <a:prstGeom prst="rect">
              <a:avLst/>
            </a:prstGeom>
            <a:noFill/>
            <a:ln>
              <a:solidFill>
                <a:schemeClr val="bg1"/>
              </a:solidFill>
            </a:ln>
          </p:spPr>
          <p:txBody>
            <a:bodyPr wrap="square" rtlCol="0">
              <a:spAutoFit/>
            </a:bodyPr>
            <a:lstStyle/>
            <a:p>
              <a:r>
                <a:rPr lang="es-MX" b="1" noProof="0" dirty="0"/>
                <a:t>SI</a:t>
              </a:r>
            </a:p>
          </p:txBody>
        </p:sp>
      </p:grpSp>
      <p:grpSp>
        <p:nvGrpSpPr>
          <p:cNvPr id="13" name="Grupo 12">
            <a:extLst>
              <a:ext uri="{FF2B5EF4-FFF2-40B4-BE49-F238E27FC236}">
                <a16:creationId xmlns:a16="http://schemas.microsoft.com/office/drawing/2014/main" id="{AA168437-BDD5-AFE8-DB0D-9B53EFC43918}"/>
              </a:ext>
            </a:extLst>
          </p:cNvPr>
          <p:cNvGrpSpPr/>
          <p:nvPr/>
        </p:nvGrpSpPr>
        <p:grpSpPr>
          <a:xfrm flipH="1">
            <a:off x="10722077" y="2287309"/>
            <a:ext cx="1326459" cy="1506266"/>
            <a:chOff x="7346489" y="2287309"/>
            <a:chExt cx="1326459" cy="1506266"/>
          </a:xfrm>
        </p:grpSpPr>
        <p:sp>
          <p:nvSpPr>
            <p:cNvPr id="14" name="Flecha: doblada 13">
              <a:extLst>
                <a:ext uri="{FF2B5EF4-FFF2-40B4-BE49-F238E27FC236}">
                  <a16:creationId xmlns:a16="http://schemas.microsoft.com/office/drawing/2014/main" id="{99020B2C-199C-8C8D-233A-89882ADD22C8}"/>
                </a:ext>
              </a:extLst>
            </p:cNvPr>
            <p:cNvSpPr/>
            <p:nvPr/>
          </p:nvSpPr>
          <p:spPr>
            <a:xfrm rot="16200000" flipH="1">
              <a:off x="7456206" y="2577729"/>
              <a:ext cx="1106129" cy="1325563"/>
            </a:xfrm>
            <a:prstGeom prst="ben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MX" noProof="0" dirty="0">
                <a:solidFill>
                  <a:schemeClr val="tx1"/>
                </a:solidFill>
              </a:endParaRPr>
            </a:p>
          </p:txBody>
        </p:sp>
        <p:sp>
          <p:nvSpPr>
            <p:cNvPr id="15" name="CuadroTexto 14">
              <a:extLst>
                <a:ext uri="{FF2B5EF4-FFF2-40B4-BE49-F238E27FC236}">
                  <a16:creationId xmlns:a16="http://schemas.microsoft.com/office/drawing/2014/main" id="{D29CAB41-EC46-E417-F538-D3514D2B35FF}"/>
                </a:ext>
              </a:extLst>
            </p:cNvPr>
            <p:cNvSpPr txBox="1"/>
            <p:nvPr/>
          </p:nvSpPr>
          <p:spPr>
            <a:xfrm>
              <a:off x="8009270" y="2287309"/>
              <a:ext cx="663678" cy="369332"/>
            </a:xfrm>
            <a:prstGeom prst="rect">
              <a:avLst/>
            </a:prstGeom>
            <a:noFill/>
            <a:ln>
              <a:solidFill>
                <a:schemeClr val="bg1"/>
              </a:solidFill>
            </a:ln>
          </p:spPr>
          <p:txBody>
            <a:bodyPr wrap="square" rtlCol="0">
              <a:spAutoFit/>
            </a:bodyPr>
            <a:lstStyle/>
            <a:p>
              <a:r>
                <a:rPr lang="es-MX" b="1" noProof="0" dirty="0"/>
                <a:t>NO</a:t>
              </a:r>
            </a:p>
          </p:txBody>
        </p:sp>
      </p:grpSp>
    </p:spTree>
    <p:extLst>
      <p:ext uri="{BB962C8B-B14F-4D97-AF65-F5344CB8AC3E}">
        <p14:creationId xmlns:p14="http://schemas.microsoft.com/office/powerpoint/2010/main" val="2155083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3EA1787-B98F-DFDE-47EC-3B69A72F9C8A}"/>
              </a:ext>
            </a:extLst>
          </p:cNvPr>
          <p:cNvSpPr>
            <a:spLocks noGrp="1"/>
          </p:cNvSpPr>
          <p:nvPr>
            <p:ph idx="1"/>
          </p:nvPr>
        </p:nvSpPr>
        <p:spPr>
          <a:xfrm>
            <a:off x="263015" y="972600"/>
            <a:ext cx="7229166" cy="4912800"/>
          </a:xfrm>
        </p:spPr>
        <p:txBody>
          <a:bodyPr>
            <a:normAutofit lnSpcReduction="10000"/>
          </a:bodyPr>
          <a:lstStyle/>
          <a:p>
            <a:pPr marL="0" indent="0" algn="just">
              <a:buNone/>
            </a:pPr>
            <a:r>
              <a:rPr lang="es-MX" noProof="0" dirty="0"/>
              <a:t>Bandera </a:t>
            </a:r>
            <a:r>
              <a:rPr lang="es-MX" noProof="0" dirty="0" err="1"/>
              <a:t>carry</a:t>
            </a:r>
            <a:r>
              <a:rPr lang="es-MX" noProof="0" dirty="0"/>
              <a:t>: Esta bandera detecta si hubo un desbordamiento de datos, si existió un </a:t>
            </a:r>
            <a:r>
              <a:rPr lang="es-MX" noProof="0" dirty="0" err="1"/>
              <a:t>carry</a:t>
            </a:r>
            <a:r>
              <a:rPr lang="es-MX" noProof="0" dirty="0"/>
              <a:t> en el ultimo bit; para esto se debe de crear una variable que nos sirva para por unos momentos agrandar el ancho de bits a 33, esta variable debe ser de el tipo </a:t>
            </a:r>
            <a:r>
              <a:rPr lang="es-MX" noProof="0" dirty="0" err="1"/>
              <a:t>reg</a:t>
            </a:r>
            <a:r>
              <a:rPr lang="es-MX" noProof="0" dirty="0"/>
              <a:t> ya que necesitaremos la información del dato.</a:t>
            </a:r>
          </a:p>
          <a:p>
            <a:pPr marL="0" indent="0" algn="just">
              <a:buNone/>
            </a:pPr>
            <a:r>
              <a:rPr lang="es-MX" noProof="0" dirty="0"/>
              <a:t>Se realiza una operación suma entre la entrada </a:t>
            </a:r>
            <a:r>
              <a:rPr lang="es-MX" noProof="0" dirty="0" err="1"/>
              <a:t>a_in</a:t>
            </a:r>
            <a:r>
              <a:rPr lang="es-MX" noProof="0" dirty="0"/>
              <a:t> y </a:t>
            </a:r>
            <a:r>
              <a:rPr lang="es-MX" noProof="0" dirty="0" err="1"/>
              <a:t>b_in</a:t>
            </a:r>
            <a:r>
              <a:rPr lang="es-MX" noProof="0" dirty="0"/>
              <a:t>, se guardo en la variable de nuestra bandera. Finalmente, con ayuda de la condicional se pregunta si el ultimo bit de nuestro registro de 33 bits es 1, de ser así, existió un </a:t>
            </a:r>
            <a:r>
              <a:rPr lang="es-MX" noProof="0" dirty="0" err="1"/>
              <a:t>carry</a:t>
            </a:r>
            <a:r>
              <a:rPr lang="es-MX" noProof="0" dirty="0"/>
              <a:t>.</a:t>
            </a:r>
          </a:p>
        </p:txBody>
      </p:sp>
      <p:sp>
        <p:nvSpPr>
          <p:cNvPr id="5" name="Elipse 4">
            <a:extLst>
              <a:ext uri="{FF2B5EF4-FFF2-40B4-BE49-F238E27FC236}">
                <a16:creationId xmlns:a16="http://schemas.microsoft.com/office/drawing/2014/main" id="{0F775444-5DD6-2F34-7AFC-552A6CCD6754}"/>
              </a:ext>
            </a:extLst>
          </p:cNvPr>
          <p:cNvSpPr/>
          <p:nvPr/>
        </p:nvSpPr>
        <p:spPr>
          <a:xfrm>
            <a:off x="9034501" y="355294"/>
            <a:ext cx="1946788" cy="1018829"/>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s-MX" noProof="0" dirty="0"/>
              <a:t>Bandera </a:t>
            </a:r>
            <a:r>
              <a:rPr lang="es-MX" noProof="0" dirty="0" err="1"/>
              <a:t>Carry</a:t>
            </a:r>
            <a:endParaRPr lang="es-MX" noProof="0" dirty="0"/>
          </a:p>
        </p:txBody>
      </p:sp>
      <p:sp>
        <p:nvSpPr>
          <p:cNvPr id="6" name="Rectángulo 5">
            <a:extLst>
              <a:ext uri="{FF2B5EF4-FFF2-40B4-BE49-F238E27FC236}">
                <a16:creationId xmlns:a16="http://schemas.microsoft.com/office/drawing/2014/main" id="{C79039CE-8559-B41C-4A07-80CE3BA42112}"/>
              </a:ext>
            </a:extLst>
          </p:cNvPr>
          <p:cNvSpPr/>
          <p:nvPr/>
        </p:nvSpPr>
        <p:spPr>
          <a:xfrm>
            <a:off x="9127459" y="1962526"/>
            <a:ext cx="1710812" cy="109138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500" noProof="0" dirty="0" err="1"/>
              <a:t>flagt</a:t>
            </a:r>
            <a:r>
              <a:rPr lang="es-MX" sz="1500" noProof="0" dirty="0"/>
              <a:t> = OUT + 1’b0</a:t>
            </a:r>
          </a:p>
        </p:txBody>
      </p:sp>
      <p:sp>
        <p:nvSpPr>
          <p:cNvPr id="7" name="Diagrama de flujo: decisión 6">
            <a:extLst>
              <a:ext uri="{FF2B5EF4-FFF2-40B4-BE49-F238E27FC236}">
                <a16:creationId xmlns:a16="http://schemas.microsoft.com/office/drawing/2014/main" id="{412F7C2C-516D-3926-BA5C-66B03C4B4735}"/>
              </a:ext>
            </a:extLst>
          </p:cNvPr>
          <p:cNvSpPr/>
          <p:nvPr/>
        </p:nvSpPr>
        <p:spPr>
          <a:xfrm>
            <a:off x="9129252" y="3561935"/>
            <a:ext cx="1757286" cy="1172497"/>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noProof="0" dirty="0"/>
              <a:t>Bit 32 = 1</a:t>
            </a:r>
          </a:p>
        </p:txBody>
      </p:sp>
      <p:grpSp>
        <p:nvGrpSpPr>
          <p:cNvPr id="12" name="Grupo 11">
            <a:extLst>
              <a:ext uri="{FF2B5EF4-FFF2-40B4-BE49-F238E27FC236}">
                <a16:creationId xmlns:a16="http://schemas.microsoft.com/office/drawing/2014/main" id="{852150AC-23AC-09FC-DCC8-F98D49DE6EF7}"/>
              </a:ext>
            </a:extLst>
          </p:cNvPr>
          <p:cNvGrpSpPr/>
          <p:nvPr/>
        </p:nvGrpSpPr>
        <p:grpSpPr>
          <a:xfrm>
            <a:off x="7447936" y="3642310"/>
            <a:ext cx="1799304" cy="2745131"/>
            <a:chOff x="6990736" y="2287309"/>
            <a:chExt cx="1799304" cy="2745131"/>
          </a:xfrm>
        </p:grpSpPr>
        <p:sp>
          <p:nvSpPr>
            <p:cNvPr id="8" name="Diagrama de flujo: proceso 7">
              <a:extLst>
                <a:ext uri="{FF2B5EF4-FFF2-40B4-BE49-F238E27FC236}">
                  <a16:creationId xmlns:a16="http://schemas.microsoft.com/office/drawing/2014/main" id="{ABB58628-0CD5-CE33-A825-FB86E3714847}"/>
                </a:ext>
              </a:extLst>
            </p:cNvPr>
            <p:cNvSpPr/>
            <p:nvPr/>
          </p:nvSpPr>
          <p:spPr>
            <a:xfrm>
              <a:off x="6990736" y="3859943"/>
              <a:ext cx="1799304" cy="1172497"/>
            </a:xfrm>
            <a:prstGeom prst="flowChartProces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s-MX" noProof="0" dirty="0"/>
                <a:t>Enciende led</a:t>
              </a:r>
            </a:p>
          </p:txBody>
        </p:sp>
        <p:grpSp>
          <p:nvGrpSpPr>
            <p:cNvPr id="9" name="Grupo 8">
              <a:extLst>
                <a:ext uri="{FF2B5EF4-FFF2-40B4-BE49-F238E27FC236}">
                  <a16:creationId xmlns:a16="http://schemas.microsoft.com/office/drawing/2014/main" id="{E3EAEB66-6593-1CB5-F268-BBB31082A5F7}"/>
                </a:ext>
              </a:extLst>
            </p:cNvPr>
            <p:cNvGrpSpPr/>
            <p:nvPr/>
          </p:nvGrpSpPr>
          <p:grpSpPr>
            <a:xfrm>
              <a:off x="7346489" y="2287309"/>
              <a:ext cx="1326459" cy="1506266"/>
              <a:chOff x="7346489" y="2287309"/>
              <a:chExt cx="1326459" cy="1506266"/>
            </a:xfrm>
          </p:grpSpPr>
          <p:sp>
            <p:nvSpPr>
              <p:cNvPr id="10" name="Flecha: doblada 9">
                <a:extLst>
                  <a:ext uri="{FF2B5EF4-FFF2-40B4-BE49-F238E27FC236}">
                    <a16:creationId xmlns:a16="http://schemas.microsoft.com/office/drawing/2014/main" id="{474A84FD-3C90-8693-0DBF-A41566BB4D49}"/>
                  </a:ext>
                </a:extLst>
              </p:cNvPr>
              <p:cNvSpPr/>
              <p:nvPr/>
            </p:nvSpPr>
            <p:spPr>
              <a:xfrm rot="16200000" flipH="1">
                <a:off x="7456206" y="2577729"/>
                <a:ext cx="1106129" cy="1325563"/>
              </a:xfrm>
              <a:prstGeom prst="ben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MX" noProof="0" dirty="0">
                  <a:solidFill>
                    <a:schemeClr val="tx1"/>
                  </a:solidFill>
                </a:endParaRPr>
              </a:p>
            </p:txBody>
          </p:sp>
          <p:sp>
            <p:nvSpPr>
              <p:cNvPr id="11" name="CuadroTexto 10">
                <a:extLst>
                  <a:ext uri="{FF2B5EF4-FFF2-40B4-BE49-F238E27FC236}">
                    <a16:creationId xmlns:a16="http://schemas.microsoft.com/office/drawing/2014/main" id="{6F146667-17BB-4B18-8006-1E4C8B0DD049}"/>
                  </a:ext>
                </a:extLst>
              </p:cNvPr>
              <p:cNvSpPr txBox="1"/>
              <p:nvPr/>
            </p:nvSpPr>
            <p:spPr>
              <a:xfrm>
                <a:off x="8009270" y="2287309"/>
                <a:ext cx="663678" cy="369332"/>
              </a:xfrm>
              <a:prstGeom prst="rect">
                <a:avLst/>
              </a:prstGeom>
              <a:noFill/>
              <a:ln>
                <a:solidFill>
                  <a:schemeClr val="bg1"/>
                </a:solidFill>
              </a:ln>
            </p:spPr>
            <p:txBody>
              <a:bodyPr wrap="square" rtlCol="0">
                <a:spAutoFit/>
              </a:bodyPr>
              <a:lstStyle/>
              <a:p>
                <a:r>
                  <a:rPr lang="es-MX" b="1" noProof="0" dirty="0"/>
                  <a:t>SI</a:t>
                </a:r>
              </a:p>
            </p:txBody>
          </p:sp>
        </p:grpSp>
      </p:grpSp>
      <p:grpSp>
        <p:nvGrpSpPr>
          <p:cNvPr id="17" name="Grupo 16">
            <a:extLst>
              <a:ext uri="{FF2B5EF4-FFF2-40B4-BE49-F238E27FC236}">
                <a16:creationId xmlns:a16="http://schemas.microsoft.com/office/drawing/2014/main" id="{427D75E4-C597-316B-E9CD-3189266737C8}"/>
              </a:ext>
            </a:extLst>
          </p:cNvPr>
          <p:cNvGrpSpPr/>
          <p:nvPr/>
        </p:nvGrpSpPr>
        <p:grpSpPr>
          <a:xfrm>
            <a:off x="10513807" y="3642310"/>
            <a:ext cx="1799304" cy="2632930"/>
            <a:chOff x="10392696" y="2287309"/>
            <a:chExt cx="1799304" cy="2632930"/>
          </a:xfrm>
        </p:grpSpPr>
        <p:sp>
          <p:nvSpPr>
            <p:cNvPr id="13" name="Diagrama de flujo: proceso 12">
              <a:extLst>
                <a:ext uri="{FF2B5EF4-FFF2-40B4-BE49-F238E27FC236}">
                  <a16:creationId xmlns:a16="http://schemas.microsoft.com/office/drawing/2014/main" id="{7B0F242B-66CF-4E6D-5DF1-8A948A3F7F92}"/>
                </a:ext>
              </a:extLst>
            </p:cNvPr>
            <p:cNvSpPr/>
            <p:nvPr/>
          </p:nvSpPr>
          <p:spPr>
            <a:xfrm>
              <a:off x="10392696" y="3747742"/>
              <a:ext cx="1799304" cy="1172497"/>
            </a:xfrm>
            <a:prstGeom prst="flowChartProcess">
              <a:avLst/>
            </a:prstGeom>
            <a:solidFill>
              <a:srgbClr val="C4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noProof="0" dirty="0"/>
                <a:t>Apaga led</a:t>
              </a:r>
            </a:p>
          </p:txBody>
        </p:sp>
        <p:grpSp>
          <p:nvGrpSpPr>
            <p:cNvPr id="14" name="Grupo 13">
              <a:extLst>
                <a:ext uri="{FF2B5EF4-FFF2-40B4-BE49-F238E27FC236}">
                  <a16:creationId xmlns:a16="http://schemas.microsoft.com/office/drawing/2014/main" id="{1DA1D891-C7FB-2519-D6E5-37A043512968}"/>
                </a:ext>
              </a:extLst>
            </p:cNvPr>
            <p:cNvGrpSpPr/>
            <p:nvPr/>
          </p:nvGrpSpPr>
          <p:grpSpPr>
            <a:xfrm flipH="1">
              <a:off x="10722077" y="2287309"/>
              <a:ext cx="1326459" cy="1506266"/>
              <a:chOff x="7346489" y="2287309"/>
              <a:chExt cx="1326459" cy="1506266"/>
            </a:xfrm>
          </p:grpSpPr>
          <p:sp>
            <p:nvSpPr>
              <p:cNvPr id="15" name="Flecha: doblada 14">
                <a:extLst>
                  <a:ext uri="{FF2B5EF4-FFF2-40B4-BE49-F238E27FC236}">
                    <a16:creationId xmlns:a16="http://schemas.microsoft.com/office/drawing/2014/main" id="{DAFAB232-F4E5-B56C-9E2B-C68DB2993A9C}"/>
                  </a:ext>
                </a:extLst>
              </p:cNvPr>
              <p:cNvSpPr/>
              <p:nvPr/>
            </p:nvSpPr>
            <p:spPr>
              <a:xfrm rot="16200000" flipH="1">
                <a:off x="7456206" y="2577729"/>
                <a:ext cx="1106129" cy="1325563"/>
              </a:xfrm>
              <a:prstGeom prst="ben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MX" noProof="0" dirty="0">
                  <a:solidFill>
                    <a:schemeClr val="tx1"/>
                  </a:solidFill>
                </a:endParaRPr>
              </a:p>
            </p:txBody>
          </p:sp>
          <p:sp>
            <p:nvSpPr>
              <p:cNvPr id="16" name="CuadroTexto 15">
                <a:extLst>
                  <a:ext uri="{FF2B5EF4-FFF2-40B4-BE49-F238E27FC236}">
                    <a16:creationId xmlns:a16="http://schemas.microsoft.com/office/drawing/2014/main" id="{FC3F5F2C-B827-098A-F384-7A05B92A4BB7}"/>
                  </a:ext>
                </a:extLst>
              </p:cNvPr>
              <p:cNvSpPr txBox="1"/>
              <p:nvPr/>
            </p:nvSpPr>
            <p:spPr>
              <a:xfrm>
                <a:off x="8009270" y="2287309"/>
                <a:ext cx="663678" cy="369332"/>
              </a:xfrm>
              <a:prstGeom prst="rect">
                <a:avLst/>
              </a:prstGeom>
              <a:noFill/>
              <a:ln>
                <a:solidFill>
                  <a:schemeClr val="bg1"/>
                </a:solidFill>
              </a:ln>
            </p:spPr>
            <p:txBody>
              <a:bodyPr wrap="square" rtlCol="0">
                <a:spAutoFit/>
              </a:bodyPr>
              <a:lstStyle/>
              <a:p>
                <a:r>
                  <a:rPr lang="es-MX" b="1" noProof="0" dirty="0"/>
                  <a:t>NO</a:t>
                </a:r>
              </a:p>
            </p:txBody>
          </p:sp>
        </p:grpSp>
      </p:grpSp>
      <p:cxnSp>
        <p:nvCxnSpPr>
          <p:cNvPr id="19" name="Conector recto 18">
            <a:extLst>
              <a:ext uri="{FF2B5EF4-FFF2-40B4-BE49-F238E27FC236}">
                <a16:creationId xmlns:a16="http://schemas.microsoft.com/office/drawing/2014/main" id="{BED25D1D-A190-0738-99F1-FAD29972D200}"/>
              </a:ext>
            </a:extLst>
          </p:cNvPr>
          <p:cNvCxnSpPr>
            <a:stCxn id="5" idx="4"/>
          </p:cNvCxnSpPr>
          <p:nvPr/>
        </p:nvCxnSpPr>
        <p:spPr>
          <a:xfrm>
            <a:off x="10007895" y="1374123"/>
            <a:ext cx="0" cy="588403"/>
          </a:xfrm>
          <a:prstGeom prst="line">
            <a:avLst/>
          </a:prstGeom>
        </p:spPr>
        <p:style>
          <a:lnRef idx="3">
            <a:schemeClr val="dk1"/>
          </a:lnRef>
          <a:fillRef idx="0">
            <a:schemeClr val="dk1"/>
          </a:fillRef>
          <a:effectRef idx="2">
            <a:schemeClr val="dk1"/>
          </a:effectRef>
          <a:fontRef idx="minor">
            <a:schemeClr val="tx1"/>
          </a:fontRef>
        </p:style>
      </p:cxnSp>
      <p:cxnSp>
        <p:nvCxnSpPr>
          <p:cNvPr id="21" name="Conector recto 20">
            <a:extLst>
              <a:ext uri="{FF2B5EF4-FFF2-40B4-BE49-F238E27FC236}">
                <a16:creationId xmlns:a16="http://schemas.microsoft.com/office/drawing/2014/main" id="{58CF5496-0E94-6E46-642F-B5ACFF77DE69}"/>
              </a:ext>
            </a:extLst>
          </p:cNvPr>
          <p:cNvCxnSpPr>
            <a:cxnSpLocks/>
            <a:endCxn id="7" idx="0"/>
          </p:cNvCxnSpPr>
          <p:nvPr/>
        </p:nvCxnSpPr>
        <p:spPr>
          <a:xfrm>
            <a:off x="10007895" y="2981355"/>
            <a:ext cx="0" cy="58058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421549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2" name="Título 1">
            <a:extLst>
              <a:ext uri="{FF2B5EF4-FFF2-40B4-BE49-F238E27FC236}">
                <a16:creationId xmlns:a16="http://schemas.microsoft.com/office/drawing/2014/main" id="{928F008B-2A63-2281-7BE6-2054225AB241}"/>
              </a:ext>
            </a:extLst>
          </p:cNvPr>
          <p:cNvSpPr>
            <a:spLocks noGrp="1"/>
          </p:cNvSpPr>
          <p:nvPr>
            <p:ph type="title"/>
          </p:nvPr>
        </p:nvSpPr>
        <p:spPr>
          <a:xfrm>
            <a:off x="1136397" y="502020"/>
            <a:ext cx="5323715" cy="1642970"/>
          </a:xfrm>
        </p:spPr>
        <p:txBody>
          <a:bodyPr anchor="b">
            <a:normAutofit/>
          </a:bodyPr>
          <a:lstStyle/>
          <a:p>
            <a:r>
              <a:rPr lang="es-MX" sz="4000" noProof="0" dirty="0"/>
              <a:t>Pruebas de simulación (</a:t>
            </a:r>
            <a:r>
              <a:rPr lang="es-MX" sz="4000" noProof="0" dirty="0" err="1"/>
              <a:t>testbench</a:t>
            </a:r>
            <a:r>
              <a:rPr lang="es-MX" sz="4000" noProof="0" dirty="0"/>
              <a:t>)</a:t>
            </a:r>
          </a:p>
        </p:txBody>
      </p:sp>
      <p:sp>
        <p:nvSpPr>
          <p:cNvPr id="3" name="Marcador de contenido 2">
            <a:extLst>
              <a:ext uri="{FF2B5EF4-FFF2-40B4-BE49-F238E27FC236}">
                <a16:creationId xmlns:a16="http://schemas.microsoft.com/office/drawing/2014/main" id="{67E8DCA6-26A9-3493-FBEF-BC01758F9627}"/>
              </a:ext>
            </a:extLst>
          </p:cNvPr>
          <p:cNvSpPr>
            <a:spLocks noGrp="1"/>
          </p:cNvSpPr>
          <p:nvPr>
            <p:ph idx="1"/>
          </p:nvPr>
        </p:nvSpPr>
        <p:spPr>
          <a:xfrm>
            <a:off x="1144923" y="2405894"/>
            <a:ext cx="5315189" cy="3535083"/>
          </a:xfrm>
        </p:spPr>
        <p:txBody>
          <a:bodyPr anchor="t">
            <a:normAutofit/>
          </a:bodyPr>
          <a:lstStyle/>
          <a:p>
            <a:pPr marL="0" indent="0" algn="just">
              <a:buNone/>
            </a:pPr>
            <a:r>
              <a:rPr lang="es-MX" sz="2000" noProof="0" dirty="0"/>
              <a:t>Para realizar nuestras pruebas de simulación se ingresaran ciertos valores, en las entradas para que cada cierto tiempo el selector vaya cambiando la operación a realizar.</a:t>
            </a:r>
          </a:p>
          <a:p>
            <a:pPr marL="0" indent="0" algn="just">
              <a:buNone/>
            </a:pPr>
            <a:r>
              <a:rPr lang="es-MX" sz="2000" noProof="0" dirty="0"/>
              <a:t>De esta forma podemos saber si los resultados que hemos predicho, coincidan con lo que se ve.</a:t>
            </a:r>
          </a:p>
          <a:p>
            <a:pPr marL="0" indent="0" algn="just">
              <a:buNone/>
            </a:pPr>
            <a:r>
              <a:rPr lang="es-MX" sz="2000" noProof="0" dirty="0"/>
              <a:t>En la primera parte a la entrada a se le ingreso el valor de 0xAA en el primer byte, mientras que a b se le ingreso 0xBB.</a:t>
            </a:r>
          </a:p>
        </p:txBody>
      </p:sp>
      <p:sp>
        <p:nvSpPr>
          <p:cNvPr id="12" name="Rectangle 11">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14" name="Rectangle 13">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16" name="Rectangle 15">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18" name="Rectangle 17">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pic>
        <p:nvPicPr>
          <p:cNvPr id="5" name="Imagen 4">
            <a:extLst>
              <a:ext uri="{FF2B5EF4-FFF2-40B4-BE49-F238E27FC236}">
                <a16:creationId xmlns:a16="http://schemas.microsoft.com/office/drawing/2014/main" id="{6F8A0B37-0D57-9D13-7926-366F1B3B5F60}"/>
              </a:ext>
            </a:extLst>
          </p:cNvPr>
          <p:cNvPicPr>
            <a:picLocks noChangeAspect="1"/>
          </p:cNvPicPr>
          <p:nvPr/>
        </p:nvPicPr>
        <p:blipFill>
          <a:blip r:embed="rId2"/>
          <a:stretch>
            <a:fillRect/>
          </a:stretch>
        </p:blipFill>
        <p:spPr>
          <a:xfrm>
            <a:off x="8511350" y="318054"/>
            <a:ext cx="2835431" cy="6311123"/>
          </a:xfrm>
          <a:prstGeom prst="rect">
            <a:avLst/>
          </a:prstGeom>
        </p:spPr>
      </p:pic>
    </p:spTree>
    <p:extLst>
      <p:ext uri="{BB962C8B-B14F-4D97-AF65-F5344CB8AC3E}">
        <p14:creationId xmlns:p14="http://schemas.microsoft.com/office/powerpoint/2010/main" val="2094798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3" name="Marcador de contenido 2">
            <a:extLst>
              <a:ext uri="{FF2B5EF4-FFF2-40B4-BE49-F238E27FC236}">
                <a16:creationId xmlns:a16="http://schemas.microsoft.com/office/drawing/2014/main" id="{8E641771-0EC5-E9FF-3B12-41B5E1CAC4BF}"/>
              </a:ext>
            </a:extLst>
          </p:cNvPr>
          <p:cNvSpPr>
            <a:spLocks noGrp="1"/>
          </p:cNvSpPr>
          <p:nvPr>
            <p:ph idx="1"/>
          </p:nvPr>
        </p:nvSpPr>
        <p:spPr>
          <a:xfrm>
            <a:off x="630936" y="2660904"/>
            <a:ext cx="4818888" cy="3547872"/>
          </a:xfrm>
        </p:spPr>
        <p:txBody>
          <a:bodyPr anchor="t">
            <a:normAutofit/>
          </a:bodyPr>
          <a:lstStyle/>
          <a:p>
            <a:pPr marL="0" indent="0" algn="just">
              <a:buNone/>
            </a:pPr>
            <a:r>
              <a:rPr lang="es-MX" sz="2200" noProof="0" dirty="0"/>
              <a:t>Así se mira la interfaz de nuestro simulador que en este caso es </a:t>
            </a:r>
            <a:r>
              <a:rPr lang="es-MX" sz="2200" noProof="0" dirty="0" err="1"/>
              <a:t>Model</a:t>
            </a:r>
            <a:r>
              <a:rPr lang="es-MX" sz="2200" noProof="0" dirty="0"/>
              <a:t> Sim; podemos notar que nos muestra los valores binarios tanto de las entradas, selector, banderas y salidas. Además, existe una separación entre espacios, esos son la duración de nuestros ciclos que habíamos definido de aproximadamente 100 pico segundos. </a:t>
            </a:r>
          </a:p>
        </p:txBody>
      </p:sp>
      <p:pic>
        <p:nvPicPr>
          <p:cNvPr id="5" name="Imagen 4">
            <a:extLst>
              <a:ext uri="{FF2B5EF4-FFF2-40B4-BE49-F238E27FC236}">
                <a16:creationId xmlns:a16="http://schemas.microsoft.com/office/drawing/2014/main" id="{16385A0C-1BCE-1BED-C1B2-728BA7A27A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9048" y="843173"/>
            <a:ext cx="5458968" cy="5171654"/>
          </a:xfrm>
          <a:prstGeom prst="rect">
            <a:avLst/>
          </a:prstGeom>
        </p:spPr>
      </p:pic>
      <p:sp>
        <p:nvSpPr>
          <p:cNvPr id="2" name="CuadroTexto 1">
            <a:extLst>
              <a:ext uri="{FF2B5EF4-FFF2-40B4-BE49-F238E27FC236}">
                <a16:creationId xmlns:a16="http://schemas.microsoft.com/office/drawing/2014/main" id="{27FFDE0B-539F-D888-8932-888204C818B7}"/>
              </a:ext>
            </a:extLst>
          </p:cNvPr>
          <p:cNvSpPr txBox="1"/>
          <p:nvPr/>
        </p:nvSpPr>
        <p:spPr>
          <a:xfrm>
            <a:off x="630936" y="1561607"/>
            <a:ext cx="2152577" cy="769441"/>
          </a:xfrm>
          <a:prstGeom prst="rect">
            <a:avLst/>
          </a:prstGeom>
          <a:noFill/>
        </p:spPr>
        <p:txBody>
          <a:bodyPr wrap="none" rtlCol="0">
            <a:spAutoFit/>
          </a:bodyPr>
          <a:lstStyle/>
          <a:p>
            <a:r>
              <a:rPr lang="es-MX" sz="4400" b="1" noProof="0" dirty="0"/>
              <a:t>Interfaz</a:t>
            </a:r>
            <a:endParaRPr lang="es-MX" b="1" noProof="0" dirty="0"/>
          </a:p>
        </p:txBody>
      </p:sp>
    </p:spTree>
    <p:extLst>
      <p:ext uri="{BB962C8B-B14F-4D97-AF65-F5344CB8AC3E}">
        <p14:creationId xmlns:p14="http://schemas.microsoft.com/office/powerpoint/2010/main" val="1288325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1">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18" name="Freeform: Shape 13">
            <a:extLst>
              <a:ext uri="{FF2B5EF4-FFF2-40B4-BE49-F238E27FC236}">
                <a16:creationId xmlns:a16="http://schemas.microsoft.com/office/drawing/2014/main" id="{3529E97A-97C3-40EA-8A04-5C02398D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MX" noProof="0" dirty="0"/>
          </a:p>
        </p:txBody>
      </p:sp>
      <p:sp>
        <p:nvSpPr>
          <p:cNvPr id="2" name="Título 1">
            <a:extLst>
              <a:ext uri="{FF2B5EF4-FFF2-40B4-BE49-F238E27FC236}">
                <a16:creationId xmlns:a16="http://schemas.microsoft.com/office/drawing/2014/main" id="{E92E0BE5-D24B-319B-2E60-0D08D210B4FB}"/>
              </a:ext>
            </a:extLst>
          </p:cNvPr>
          <p:cNvSpPr>
            <a:spLocks noGrp="1"/>
          </p:cNvSpPr>
          <p:nvPr>
            <p:ph type="title"/>
          </p:nvPr>
        </p:nvSpPr>
        <p:spPr>
          <a:xfrm>
            <a:off x="630936" y="630936"/>
            <a:ext cx="3599688" cy="1463040"/>
          </a:xfrm>
        </p:spPr>
        <p:txBody>
          <a:bodyPr anchor="ctr">
            <a:normAutofit/>
          </a:bodyPr>
          <a:lstStyle/>
          <a:p>
            <a:r>
              <a:rPr lang="es-MX" sz="4800" noProof="0" dirty="0">
                <a:solidFill>
                  <a:srgbClr val="FFFFFF"/>
                </a:solidFill>
              </a:rPr>
              <a:t>Resta </a:t>
            </a:r>
          </a:p>
        </p:txBody>
      </p:sp>
      <p:sp>
        <p:nvSpPr>
          <p:cNvPr id="16" name="sketch line">
            <a:extLst>
              <a:ext uri="{FF2B5EF4-FFF2-40B4-BE49-F238E27FC236}">
                <a16:creationId xmlns:a16="http://schemas.microsoft.com/office/drawing/2014/main" id="{59FA8C2E-A5A7-4490-927A-7CD58343ED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353312"/>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19" name="Content Placeholder 8">
            <a:extLst>
              <a:ext uri="{FF2B5EF4-FFF2-40B4-BE49-F238E27FC236}">
                <a16:creationId xmlns:a16="http://schemas.microsoft.com/office/drawing/2014/main" id="{A9114486-A95A-F0BF-0ACD-3F36970EC525}"/>
              </a:ext>
            </a:extLst>
          </p:cNvPr>
          <p:cNvSpPr>
            <a:spLocks noGrp="1"/>
          </p:cNvSpPr>
          <p:nvPr>
            <p:ph idx="1"/>
          </p:nvPr>
        </p:nvSpPr>
        <p:spPr>
          <a:xfrm>
            <a:off x="4474462" y="630936"/>
            <a:ext cx="7074409" cy="1463040"/>
          </a:xfrm>
        </p:spPr>
        <p:txBody>
          <a:bodyPr anchor="ctr">
            <a:normAutofit lnSpcReduction="10000"/>
          </a:bodyPr>
          <a:lstStyle/>
          <a:p>
            <a:pPr marL="0" indent="0" algn="just">
              <a:buNone/>
            </a:pPr>
            <a:r>
              <a:rPr lang="es-MX" sz="2200" noProof="0" dirty="0">
                <a:solidFill>
                  <a:srgbClr val="FFFFFF"/>
                </a:solidFill>
              </a:rPr>
              <a:t>A nuestras entradas se les carga el valor asignado en nuestro </a:t>
            </a:r>
            <a:r>
              <a:rPr lang="es-MX" sz="2200" noProof="0" dirty="0" err="1">
                <a:solidFill>
                  <a:srgbClr val="FFFFFF"/>
                </a:solidFill>
              </a:rPr>
              <a:t>codigo</a:t>
            </a:r>
            <a:r>
              <a:rPr lang="es-MX" sz="2200" noProof="0" dirty="0">
                <a:solidFill>
                  <a:srgbClr val="FFFFFF"/>
                </a:solidFill>
              </a:rPr>
              <a:t> </a:t>
            </a:r>
            <a:r>
              <a:rPr lang="es-MX" sz="2200" noProof="0" dirty="0" err="1">
                <a:solidFill>
                  <a:srgbClr val="FFFFFF"/>
                </a:solidFill>
              </a:rPr>
              <a:t>asi</a:t>
            </a:r>
            <a:r>
              <a:rPr lang="es-MX" sz="2200" noProof="0" dirty="0">
                <a:solidFill>
                  <a:srgbClr val="FFFFFF"/>
                </a:solidFill>
              </a:rPr>
              <a:t> como al selector; en la parte de la resta como en el </a:t>
            </a:r>
            <a:r>
              <a:rPr lang="es-MX" sz="2200" noProof="0" dirty="0" err="1">
                <a:solidFill>
                  <a:srgbClr val="FFFFFF"/>
                </a:solidFill>
              </a:rPr>
              <a:t>codigo</a:t>
            </a:r>
            <a:r>
              <a:rPr lang="es-MX" sz="2200" noProof="0" dirty="0">
                <a:solidFill>
                  <a:srgbClr val="FFFFFF"/>
                </a:solidFill>
              </a:rPr>
              <a:t> original la entrada b resta a la entrada a. Varios estados altos se marcan en la salida ya que b es mayor que a.</a:t>
            </a:r>
          </a:p>
        </p:txBody>
      </p:sp>
      <p:pic>
        <p:nvPicPr>
          <p:cNvPr id="5" name="Marcador de contenido 4">
            <a:extLst>
              <a:ext uri="{FF2B5EF4-FFF2-40B4-BE49-F238E27FC236}">
                <a16:creationId xmlns:a16="http://schemas.microsoft.com/office/drawing/2014/main" id="{778AC6A6-CABB-91B4-1706-7E09BC4376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936" y="3123148"/>
            <a:ext cx="10917936" cy="2975791"/>
          </a:xfrm>
          <a:prstGeom prst="rect">
            <a:avLst/>
          </a:prstGeom>
        </p:spPr>
      </p:pic>
    </p:spTree>
    <p:extLst>
      <p:ext uri="{BB962C8B-B14F-4D97-AF65-F5344CB8AC3E}">
        <p14:creationId xmlns:p14="http://schemas.microsoft.com/office/powerpoint/2010/main" val="1580610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2" name="Título 1">
            <a:extLst>
              <a:ext uri="{FF2B5EF4-FFF2-40B4-BE49-F238E27FC236}">
                <a16:creationId xmlns:a16="http://schemas.microsoft.com/office/drawing/2014/main" id="{65A1A2BA-CD9D-8DA8-8CE7-A1B9CDBADEE2}"/>
              </a:ext>
            </a:extLst>
          </p:cNvPr>
          <p:cNvSpPr>
            <a:spLocks noGrp="1"/>
          </p:cNvSpPr>
          <p:nvPr>
            <p:ph type="title"/>
          </p:nvPr>
        </p:nvSpPr>
        <p:spPr>
          <a:xfrm>
            <a:off x="484632" y="-894171"/>
            <a:ext cx="6894576" cy="1783080"/>
          </a:xfrm>
        </p:spPr>
        <p:txBody>
          <a:bodyPr anchor="b">
            <a:normAutofit/>
          </a:bodyPr>
          <a:lstStyle/>
          <a:p>
            <a:r>
              <a:rPr lang="es-MX" sz="5400" noProof="0" dirty="0"/>
              <a:t>AND</a:t>
            </a:r>
          </a:p>
        </p:txBody>
      </p:sp>
      <p:sp>
        <p:nvSpPr>
          <p:cNvPr id="50"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20" name="Content Placeholder 19">
            <a:extLst>
              <a:ext uri="{FF2B5EF4-FFF2-40B4-BE49-F238E27FC236}">
                <a16:creationId xmlns:a16="http://schemas.microsoft.com/office/drawing/2014/main" id="{7BAC4C09-69CA-D136-1FC9-E244A11BD9C2}"/>
              </a:ext>
            </a:extLst>
          </p:cNvPr>
          <p:cNvSpPr>
            <a:spLocks noGrp="1"/>
          </p:cNvSpPr>
          <p:nvPr>
            <p:ph idx="1"/>
          </p:nvPr>
        </p:nvSpPr>
        <p:spPr>
          <a:xfrm>
            <a:off x="484632" y="672084"/>
            <a:ext cx="6894576" cy="3483864"/>
          </a:xfrm>
        </p:spPr>
        <p:txBody>
          <a:bodyPr>
            <a:normAutofit/>
          </a:bodyPr>
          <a:lstStyle/>
          <a:p>
            <a:pPr marL="0" indent="0" algn="just">
              <a:buNone/>
            </a:pPr>
            <a:r>
              <a:rPr lang="es-MX" sz="2200" noProof="0" dirty="0"/>
              <a:t>Al momento de hacer la combinación necesaria para la and, el resultado fue el esperado. Solo se debe evaluar bit por bit para mostrar el resultado necesario.</a:t>
            </a:r>
          </a:p>
        </p:txBody>
      </p:sp>
      <p:pic>
        <p:nvPicPr>
          <p:cNvPr id="7" name="Marcador de contenido 6">
            <a:extLst>
              <a:ext uri="{FF2B5EF4-FFF2-40B4-BE49-F238E27FC236}">
                <a16:creationId xmlns:a16="http://schemas.microsoft.com/office/drawing/2014/main" id="{AFA4F8D7-4072-2AF2-F100-8E520AF9E1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8479" y="690373"/>
            <a:ext cx="4509577" cy="2439607"/>
          </a:xfrm>
          <a:prstGeom prst="rect">
            <a:avLst/>
          </a:prstGeom>
        </p:spPr>
      </p:pic>
      <p:pic>
        <p:nvPicPr>
          <p:cNvPr id="5" name="Marcador de contenido 4">
            <a:extLst>
              <a:ext uri="{FF2B5EF4-FFF2-40B4-BE49-F238E27FC236}">
                <a16:creationId xmlns:a16="http://schemas.microsoft.com/office/drawing/2014/main" id="{F4619C00-AC88-F1BC-5C9C-6135159229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5330" y="3688350"/>
            <a:ext cx="10161340" cy="2497566"/>
          </a:xfrm>
          <a:prstGeom prst="rect">
            <a:avLst/>
          </a:prstGeom>
        </p:spPr>
      </p:pic>
    </p:spTree>
    <p:extLst>
      <p:ext uri="{BB962C8B-B14F-4D97-AF65-F5344CB8AC3E}">
        <p14:creationId xmlns:p14="http://schemas.microsoft.com/office/powerpoint/2010/main" val="38489531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2" name="Título 1">
            <a:extLst>
              <a:ext uri="{FF2B5EF4-FFF2-40B4-BE49-F238E27FC236}">
                <a16:creationId xmlns:a16="http://schemas.microsoft.com/office/drawing/2014/main" id="{2CDFBE13-5290-2B30-5D11-2A7236B5DAAA}"/>
              </a:ext>
            </a:extLst>
          </p:cNvPr>
          <p:cNvSpPr>
            <a:spLocks noGrp="1"/>
          </p:cNvSpPr>
          <p:nvPr>
            <p:ph type="title"/>
          </p:nvPr>
        </p:nvSpPr>
        <p:spPr>
          <a:xfrm>
            <a:off x="640080" y="329184"/>
            <a:ext cx="6894576" cy="1783080"/>
          </a:xfrm>
        </p:spPr>
        <p:txBody>
          <a:bodyPr anchor="b">
            <a:normAutofit/>
          </a:bodyPr>
          <a:lstStyle/>
          <a:p>
            <a:r>
              <a:rPr lang="es-MX" sz="5400" noProof="0" dirty="0"/>
              <a:t>X-OR</a:t>
            </a:r>
          </a:p>
        </p:txBody>
      </p:sp>
      <p:sp>
        <p:nvSpPr>
          <p:cNvPr id="3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26" name="Content Placeholder 25">
            <a:extLst>
              <a:ext uri="{FF2B5EF4-FFF2-40B4-BE49-F238E27FC236}">
                <a16:creationId xmlns:a16="http://schemas.microsoft.com/office/drawing/2014/main" id="{A0CCDFAD-5398-8027-22EB-78274464BF4C}"/>
              </a:ext>
            </a:extLst>
          </p:cNvPr>
          <p:cNvSpPr>
            <a:spLocks noGrp="1"/>
          </p:cNvSpPr>
          <p:nvPr>
            <p:ph idx="1"/>
          </p:nvPr>
        </p:nvSpPr>
        <p:spPr>
          <a:xfrm>
            <a:off x="640080" y="2706624"/>
            <a:ext cx="6480248" cy="1142550"/>
          </a:xfrm>
        </p:spPr>
        <p:txBody>
          <a:bodyPr>
            <a:normAutofit/>
          </a:bodyPr>
          <a:lstStyle/>
          <a:p>
            <a:pPr marL="0" indent="0" algn="just">
              <a:buNone/>
            </a:pPr>
            <a:r>
              <a:rPr lang="es-MX" sz="2200" noProof="0" dirty="0"/>
              <a:t>Al momento de ingresar los valores se cumple su tabla de verdad, si los valores de entrada son distintos entre si, la salida es 1.</a:t>
            </a:r>
          </a:p>
        </p:txBody>
      </p:sp>
      <p:pic>
        <p:nvPicPr>
          <p:cNvPr id="11" name="Marcador de contenido 10">
            <a:extLst>
              <a:ext uri="{FF2B5EF4-FFF2-40B4-BE49-F238E27FC236}">
                <a16:creationId xmlns:a16="http://schemas.microsoft.com/office/drawing/2014/main" id="{986441DB-BD10-93A6-FFD5-646D47D977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3840" y="855025"/>
            <a:ext cx="4014216" cy="2378285"/>
          </a:xfrm>
          <a:prstGeom prst="rect">
            <a:avLst/>
          </a:prstGeom>
        </p:spPr>
      </p:pic>
      <p:pic>
        <p:nvPicPr>
          <p:cNvPr id="9" name="Marcador de contenido 8">
            <a:extLst>
              <a:ext uri="{FF2B5EF4-FFF2-40B4-BE49-F238E27FC236}">
                <a16:creationId xmlns:a16="http://schemas.microsoft.com/office/drawing/2014/main" id="{4E03F609-BE6C-61CD-295F-C422DF654A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8421" y="4023541"/>
            <a:ext cx="8292109" cy="2505275"/>
          </a:xfrm>
          <a:prstGeom prst="rect">
            <a:avLst/>
          </a:prstGeom>
        </p:spPr>
      </p:pic>
    </p:spTree>
    <p:extLst>
      <p:ext uri="{BB962C8B-B14F-4D97-AF65-F5344CB8AC3E}">
        <p14:creationId xmlns:p14="http://schemas.microsoft.com/office/powerpoint/2010/main" val="102345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useBgFill="1">
        <p:nvSpPr>
          <p:cNvPr id="14" name="Rectangle 13">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5E8DB87-76CB-8AC2-FA6C-9F28A7920505}"/>
              </a:ext>
            </a:extLst>
          </p:cNvPr>
          <p:cNvSpPr>
            <a:spLocks noGrp="1"/>
          </p:cNvSpPr>
          <p:nvPr>
            <p:ph type="title"/>
          </p:nvPr>
        </p:nvSpPr>
        <p:spPr>
          <a:xfrm>
            <a:off x="1046746" y="586822"/>
            <a:ext cx="3560252" cy="1645920"/>
          </a:xfrm>
        </p:spPr>
        <p:txBody>
          <a:bodyPr>
            <a:normAutofit/>
          </a:bodyPr>
          <a:lstStyle/>
          <a:p>
            <a:r>
              <a:rPr lang="es-MX" sz="3200" noProof="0" dirty="0"/>
              <a:t>Bandera de desbordamiento (overflow)</a:t>
            </a:r>
          </a:p>
        </p:txBody>
      </p:sp>
      <p:sp>
        <p:nvSpPr>
          <p:cNvPr id="16" name="Rectangle 15">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solidFill>
                <a:prstClr val="white"/>
              </a:solidFill>
              <a:latin typeface="Calibri" panose="020F0502020204030204"/>
            </a:endParaRPr>
          </a:p>
        </p:txBody>
      </p:sp>
      <p:sp>
        <p:nvSpPr>
          <p:cNvPr id="18" name="Rectangle 17">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solidFill>
                <a:prstClr val="white"/>
              </a:solidFill>
              <a:latin typeface="Calibri" panose="020F0502020204030204"/>
            </a:endParaRPr>
          </a:p>
        </p:txBody>
      </p:sp>
      <p:sp>
        <p:nvSpPr>
          <p:cNvPr id="9" name="Content Placeholder 8">
            <a:extLst>
              <a:ext uri="{FF2B5EF4-FFF2-40B4-BE49-F238E27FC236}">
                <a16:creationId xmlns:a16="http://schemas.microsoft.com/office/drawing/2014/main" id="{D932496A-30A7-8845-9700-DD153F657A1A}"/>
              </a:ext>
            </a:extLst>
          </p:cNvPr>
          <p:cNvSpPr>
            <a:spLocks noGrp="1"/>
          </p:cNvSpPr>
          <p:nvPr>
            <p:ph idx="1"/>
          </p:nvPr>
        </p:nvSpPr>
        <p:spPr>
          <a:xfrm>
            <a:off x="5351164" y="586822"/>
            <a:ext cx="6002636" cy="1645920"/>
          </a:xfrm>
        </p:spPr>
        <p:txBody>
          <a:bodyPr anchor="ctr">
            <a:normAutofit/>
          </a:bodyPr>
          <a:lstStyle/>
          <a:p>
            <a:pPr marL="0" indent="0" algn="just">
              <a:buNone/>
            </a:pPr>
            <a:r>
              <a:rPr lang="es-MX" sz="1800" noProof="0" dirty="0"/>
              <a:t>Cuando se ingresa en las entradas un valor alto en cada uno de los bits, Podemos notar que nuestra bandera que detecta el desbordamiento se activa debido al acarreo que existió en el ultimo bit.</a:t>
            </a:r>
          </a:p>
        </p:txBody>
      </p:sp>
      <p:pic>
        <p:nvPicPr>
          <p:cNvPr id="5" name="Marcador de contenido 4">
            <a:extLst>
              <a:ext uri="{FF2B5EF4-FFF2-40B4-BE49-F238E27FC236}">
                <a16:creationId xmlns:a16="http://schemas.microsoft.com/office/drawing/2014/main" id="{9749A43C-D272-7B89-CA31-F1F08E2211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784" y="3451754"/>
            <a:ext cx="11164824" cy="2048467"/>
          </a:xfrm>
          <a:prstGeom prst="rect">
            <a:avLst/>
          </a:prstGeom>
        </p:spPr>
      </p:pic>
    </p:spTree>
    <p:extLst>
      <p:ext uri="{BB962C8B-B14F-4D97-AF65-F5344CB8AC3E}">
        <p14:creationId xmlns:p14="http://schemas.microsoft.com/office/powerpoint/2010/main" val="614637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2" name="Título 1">
            <a:extLst>
              <a:ext uri="{FF2B5EF4-FFF2-40B4-BE49-F238E27FC236}">
                <a16:creationId xmlns:a16="http://schemas.microsoft.com/office/drawing/2014/main" id="{C3A719E3-44C2-6967-C898-B2F8CC3D5E7A}"/>
              </a:ext>
            </a:extLst>
          </p:cNvPr>
          <p:cNvSpPr>
            <a:spLocks noGrp="1"/>
          </p:cNvSpPr>
          <p:nvPr>
            <p:ph type="title"/>
          </p:nvPr>
        </p:nvSpPr>
        <p:spPr>
          <a:xfrm>
            <a:off x="630936" y="502920"/>
            <a:ext cx="3419856" cy="1463040"/>
          </a:xfrm>
        </p:spPr>
        <p:txBody>
          <a:bodyPr anchor="ctr">
            <a:normAutofit/>
          </a:bodyPr>
          <a:lstStyle/>
          <a:p>
            <a:r>
              <a:rPr lang="es-MX" sz="4800" noProof="0" dirty="0"/>
              <a:t>Bandera Z</a:t>
            </a:r>
          </a:p>
        </p:txBody>
      </p:sp>
      <p:sp>
        <p:nvSpPr>
          <p:cNvPr id="14"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9" name="Content Placeholder 8">
            <a:extLst>
              <a:ext uri="{FF2B5EF4-FFF2-40B4-BE49-F238E27FC236}">
                <a16:creationId xmlns:a16="http://schemas.microsoft.com/office/drawing/2014/main" id="{37910D8E-81D6-BA1B-1DB9-7F546449E9A4}"/>
              </a:ext>
            </a:extLst>
          </p:cNvPr>
          <p:cNvSpPr>
            <a:spLocks noGrp="1"/>
          </p:cNvSpPr>
          <p:nvPr>
            <p:ph idx="1"/>
          </p:nvPr>
        </p:nvSpPr>
        <p:spPr>
          <a:xfrm>
            <a:off x="4654295" y="502920"/>
            <a:ext cx="6894576" cy="1463040"/>
          </a:xfrm>
        </p:spPr>
        <p:txBody>
          <a:bodyPr anchor="ctr">
            <a:normAutofit/>
          </a:bodyPr>
          <a:lstStyle/>
          <a:p>
            <a:pPr marL="0" indent="0" algn="just">
              <a:buNone/>
            </a:pPr>
            <a:r>
              <a:rPr lang="es-MX" sz="1800" noProof="0" dirty="0"/>
              <a:t>En nuestra primera combinación, notamos el selector en 0000, si revisamos nuestra table de combinaciones, es una suma, sin embargo no hay datos que sumar; por lo tanto, se obtiene cero de resultado. Note como la bandera de detección de cero se activa debido a este acontecimiento.</a:t>
            </a:r>
          </a:p>
        </p:txBody>
      </p:sp>
      <p:pic>
        <p:nvPicPr>
          <p:cNvPr id="5" name="Marcador de contenido 4">
            <a:extLst>
              <a:ext uri="{FF2B5EF4-FFF2-40B4-BE49-F238E27FC236}">
                <a16:creationId xmlns:a16="http://schemas.microsoft.com/office/drawing/2014/main" id="{4A1A1B92-414F-DD16-8654-CBD4221D35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936" y="2463771"/>
            <a:ext cx="10917936" cy="3613682"/>
          </a:xfrm>
          <a:prstGeom prst="rect">
            <a:avLst/>
          </a:prstGeom>
        </p:spPr>
      </p:pic>
    </p:spTree>
    <p:extLst>
      <p:ext uri="{BB962C8B-B14F-4D97-AF65-F5344CB8AC3E}">
        <p14:creationId xmlns:p14="http://schemas.microsoft.com/office/powerpoint/2010/main" val="415771019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301</TotalTime>
  <Words>1635</Words>
  <Application>Microsoft Office PowerPoint</Application>
  <PresentationFormat>Panorámica</PresentationFormat>
  <Paragraphs>154</Paragraphs>
  <Slides>20</Slides>
  <Notes>5</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Aptos</vt:lpstr>
      <vt:lpstr>Aptos Display</vt:lpstr>
      <vt:lpstr>Arial</vt:lpstr>
      <vt:lpstr>Calibri</vt:lpstr>
      <vt:lpstr>Courier New</vt:lpstr>
      <vt:lpstr>Tema de Office</vt:lpstr>
      <vt:lpstr>Descripción en verilog de la ALU DE RISC-V</vt:lpstr>
      <vt:lpstr>¿Qué es la ALU?</vt:lpstr>
      <vt:lpstr>¿Qué estructura tendrá nuestra ALU?</vt:lpstr>
      <vt:lpstr>¿Cómo es que funciona?</vt:lpstr>
      <vt:lpstr>Decodificación de cada instrucción:</vt:lpstr>
      <vt:lpstr>Código</vt:lpstr>
      <vt:lpstr>Código</vt:lpstr>
      <vt:lpstr>Código</vt:lpstr>
      <vt:lpstr>Código</vt:lpstr>
      <vt:lpstr>Explicación </vt:lpstr>
      <vt:lpstr>RISC-V en la ALU</vt:lpstr>
      <vt:lpstr>Banderas de Carry y de Zero</vt:lpstr>
      <vt:lpstr>Presentación de PowerPoint</vt:lpstr>
      <vt:lpstr>Pruebas de simulación (testbench)</vt:lpstr>
      <vt:lpstr>Presentación de PowerPoint</vt:lpstr>
      <vt:lpstr>Resta </vt:lpstr>
      <vt:lpstr>AND</vt:lpstr>
      <vt:lpstr>X-OR</vt:lpstr>
      <vt:lpstr>Bandera de desbordamiento (overflow)</vt:lpstr>
      <vt:lpstr>Bandera 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Ricardo Ramirez Marin</dc:creator>
  <cp:lastModifiedBy>Ricardo Ramirez Marin</cp:lastModifiedBy>
  <cp:revision>6</cp:revision>
  <dcterms:created xsi:type="dcterms:W3CDTF">2026-03-11T14:30:25Z</dcterms:created>
  <dcterms:modified xsi:type="dcterms:W3CDTF">2026-03-13T14:34:27Z</dcterms:modified>
</cp:coreProperties>
</file>